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5f7c55469045be" /><Relationship Type="http://schemas.openxmlformats.org/officeDocument/2006/relationships/extended-properties" Target="/docProps/app.xml" Id="Rba85ef996bdd4aec" /><Relationship Type="http://schemas.openxmlformats.org/officeDocument/2006/relationships/officeDocument" Target="/ppt/presentation.xml" Id="R8e78212e630444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266d8483346e8"/>
  </p:sldMasterIdLst>
  <p:notesMasterIdLst>
    <p:notesMasterId xmlns:r="http://schemas.openxmlformats.org/officeDocument/2006/relationships" r:id="R9b5ffc34ac5a45c2"/>
  </p:notesMasterIdLst>
  <p:sldIdLst>
    <p:sldId xmlns:r="http://schemas.openxmlformats.org/officeDocument/2006/relationships" id="256" r:id="Ra5e742af2d694abc"/>
    <p:sldId xmlns:r="http://schemas.openxmlformats.org/officeDocument/2006/relationships" id="257" r:id="R8152938e1b094a54"/>
    <p:sldId xmlns:r="http://schemas.openxmlformats.org/officeDocument/2006/relationships" id="258" r:id="R7ef8e36270804264"/>
    <p:sldId xmlns:r="http://schemas.openxmlformats.org/officeDocument/2006/relationships" id="259" r:id="Raa893629af2f4a1f"/>
    <p:sldId xmlns:r="http://schemas.openxmlformats.org/officeDocument/2006/relationships" id="260" r:id="R785f81ec49d44a89"/>
    <p:sldId xmlns:r="http://schemas.openxmlformats.org/officeDocument/2006/relationships" id="261" r:id="R5f3dcc5e9b6147d9"/>
    <p:sldId xmlns:r="http://schemas.openxmlformats.org/officeDocument/2006/relationships" id="262" r:id="R87a41ec7891b48f8"/>
    <p:sldId xmlns:r="http://schemas.openxmlformats.org/officeDocument/2006/relationships" id="263" r:id="Rb2ae855571ac40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ddc90c5e8a44ac" /><Relationship Type="http://schemas.openxmlformats.org/officeDocument/2006/relationships/slideMaster" Target="/ppt/slideMasters/slideMaster1.xml" Id="R55e266d8483346e8" /><Relationship Type="http://schemas.openxmlformats.org/officeDocument/2006/relationships/notesMaster" Target="/ppt/notesMasters/notesMaster1.xml" Id="R9b5ffc34ac5a45c2" /><Relationship Type="http://schemas.openxmlformats.org/officeDocument/2006/relationships/presProps" Target="/ppt/presProps.xml" Id="R71583cf4fed64276" /><Relationship Type="http://schemas.openxmlformats.org/officeDocument/2006/relationships/viewProps" Target="/ppt/viewProps.xml" Id="Rfe9d05514de24900" /><Relationship Type="http://schemas.openxmlformats.org/officeDocument/2006/relationships/tableStyles" Target="/ppt/tableStyles.xml" Id="R7859347d43244e1d" /><Relationship Type="http://schemas.openxmlformats.org/officeDocument/2006/relationships/slide" Target="/ppt/slides/slide1.xml" Id="Ra5e742af2d694abc" /><Relationship Type="http://schemas.openxmlformats.org/officeDocument/2006/relationships/slide" Target="/ppt/slides/slide2.xml" Id="R8152938e1b094a54" /><Relationship Type="http://schemas.openxmlformats.org/officeDocument/2006/relationships/slide" Target="/ppt/slides/slide3.xml" Id="R7ef8e36270804264" /><Relationship Type="http://schemas.openxmlformats.org/officeDocument/2006/relationships/slide" Target="/ppt/slides/slide4.xml" Id="Raa893629af2f4a1f" /><Relationship Type="http://schemas.openxmlformats.org/officeDocument/2006/relationships/slide" Target="/ppt/slides/slide5.xml" Id="R785f81ec49d44a89" /><Relationship Type="http://schemas.openxmlformats.org/officeDocument/2006/relationships/slide" Target="/ppt/slides/slide6.xml" Id="R5f3dcc5e9b6147d9" /><Relationship Type="http://schemas.openxmlformats.org/officeDocument/2006/relationships/slide" Target="/ppt/slides/slide7.xml" Id="R87a41ec7891b48f8" /><Relationship Type="http://schemas.openxmlformats.org/officeDocument/2006/relationships/slide" Target="/ppt/slides/slide8.xml" Id="Rb2ae855571ac40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192ec8cd68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b15ff4583949ed" /><Relationship Type="http://schemas.openxmlformats.org/officeDocument/2006/relationships/notesMaster" Target="/ppt/notesMasters/notesMaster1.xml" Id="R5342aafc02e241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185c675bff4a78" /><Relationship Type="http://schemas.openxmlformats.org/officeDocument/2006/relationships/notesMaster" Target="/ppt/notesMasters/notesMaster1.xml" Id="Rb74e9961218b4a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903f64cd04c82" /><Relationship Type="http://schemas.openxmlformats.org/officeDocument/2006/relationships/notesMaster" Target="/ppt/notesMasters/notesMaster1.xml" Id="R6c6374d2b4714a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f72fa62cdc4941" /><Relationship Type="http://schemas.openxmlformats.org/officeDocument/2006/relationships/notesMaster" Target="/ppt/notesMasters/notesMaster1.xml" Id="R42702049c4d546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d4ea70bdf460a" /><Relationship Type="http://schemas.openxmlformats.org/officeDocument/2006/relationships/notesMaster" Target="/ppt/notesMasters/notesMaster1.xml" Id="R145161e8515445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15a2bbb6664b24" /><Relationship Type="http://schemas.openxmlformats.org/officeDocument/2006/relationships/notesMaster" Target="/ppt/notesMasters/notesMaster1.xml" Id="R23a66a20ce3240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77c0d473fb4fc7" /><Relationship Type="http://schemas.openxmlformats.org/officeDocument/2006/relationships/notesMaster" Target="/ppt/notesMasters/notesMaster1.xml" Id="Rb7e27162eb0248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2955e0526c4918" /><Relationship Type="http://schemas.openxmlformats.org/officeDocument/2006/relationships/notesMaster" Target="/ppt/notesMasters/notesMaster1.xml" Id="R8cd274a419934c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f2458daa0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03fc2bfce423e" /><Relationship Type="http://schemas.openxmlformats.org/officeDocument/2006/relationships/slideLayout" Target="/ppt/slideLayouts/slideLayout1.xml" Id="Rfb6a6a9d673349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6a6a9d673349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0c5e5a5734c52" /><Relationship Type="http://schemas.openxmlformats.org/officeDocument/2006/relationships/notesSlide" Target="/ppt/notesSlides/notesSlide1.xml" Id="R3bee5d1d50844d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8127276554474" /><Relationship Type="http://schemas.openxmlformats.org/officeDocument/2006/relationships/notesSlide" Target="/ppt/notesSlides/notesSlide2.xml" Id="Re4ab3d5caef7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67c82f8ed4e28" /><Relationship Type="http://schemas.openxmlformats.org/officeDocument/2006/relationships/notesSlide" Target="/ppt/notesSlides/notesSlide3.xml" Id="R673f059929e54f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384e8da10445d" /><Relationship Type="http://schemas.openxmlformats.org/officeDocument/2006/relationships/notesSlide" Target="/ppt/notesSlides/notesSlide4.xml" Id="R3f87f5f7b3ba4c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77b8c9b46417e" /><Relationship Type="http://schemas.openxmlformats.org/officeDocument/2006/relationships/notesSlide" Target="/ppt/notesSlides/notesSlide5.xml" Id="Rcaf01caf41a94b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eeba1abbb4581" /><Relationship Type="http://schemas.openxmlformats.org/officeDocument/2006/relationships/notesSlide" Target="/ppt/notesSlides/notesSlide6.xml" Id="R9b3daf06a187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210d340d4343" /><Relationship Type="http://schemas.openxmlformats.org/officeDocument/2006/relationships/notesSlide" Target="/ppt/notesSlides/notesSlide7.xml" Id="R03954cc04d83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963ff11814525" /><Relationship Type="http://schemas.openxmlformats.org/officeDocument/2006/relationships/notesSlide" Target="/ppt/notesSlides/notesSlide8.xml" Id="R6f621efe62a04a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56A2FD-5E78-4D25-8A28-B028A920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91609-E03A-4CEB-9140-598FDD7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72971-5EE0-44A8-AC73-A359D637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8CC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1DE5-089F-4D77-972D-7269A32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8C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7DBFEEBD-AB02-4B64-8D71-AF4D481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771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89B8A45E-60F9-4BCF-80C2-BAC347DC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E6DA"/>
                </a:solidFill>
                <a:latin typeface="Aptos"/>
                <a:ea typeface="Aptos"/>
                <a:cs typeface="Aptos"/>
              </a:rPr>
              <a:t>STARTUP E PROPOSTA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4D411-C6C3-424C-BA9D-B603FA48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609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rPr>
              <a:t>FlowMetrics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BC04C-6D36-4AA6-9327-C2B42B71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590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BE6DA"/>
                </a:solidFill>
                <a:latin typeface="Aptos"/>
                <a:ea typeface="Aptos"/>
                <a:cs typeface="Aptos"/>
              </a:rPr>
              <a:t>Kanban que transforma movimento em metrica operacional.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796A-26D3-4529-9F92-71DBFAEC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DBE6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5A5DE-1788-4A8C-BFB9-6B9AF51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E6DA"/>
                </a:solidFill>
                <a:latin typeface="Aptos"/>
                <a:ea typeface="Aptos"/>
                <a:cs typeface="Aptos"/>
              </a:rPr>
              <a:t>Concorrente direto: Trello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46B98-352B-483A-ADF1-5789AF1E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D9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47B38-1B0E-4507-B176-B246902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60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6045"/>
                </a:solidFill>
                <a:latin typeface="Aptos"/>
                <a:ea typeface="Aptos"/>
                <a:cs typeface="Aptos"/>
              </a:rPr>
              <a:t>Diferencial: metricas nativas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E1811-58A0-48D6-B7FF-B104C2CA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23950"/>
            <a:ext cx="371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B631E-7EAB-4A08-B7F7-3975BB9F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668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245D6-60F5-48D5-ABF3-2EF2111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66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CA8CC-69AA-4A65-BBAF-F0933903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830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LEAD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63394-6848-424F-A92D-EAF36D95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66900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criado -&gt; concluido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4EA5F-0A00-4D44-AF15-E0EC5C7D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tempo total percebido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641FB-7E86-4E09-9B87-246C6F7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59F26-DB00-4AF6-A415-D608B99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ECD2C-2286-457C-A7BA-E76A57DE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CYCLE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99B6E-F071-44E7-A5CB-07FBCD96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doing -&gt; done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9E642-D36C-4222-BE7E-8A70FC25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tempo real de execucao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29DC93-59AD-4C9F-8AB5-F5E36AF8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36AA9-87C7-4889-ABF6-7EF0D65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DD651-6692-4D01-82EA-BB23544B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5290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THROUGHPUT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63ABC-CCE9-42B4-B9D1-C9A25E44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1500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ultimos 7 dias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06D3F5-CE78-4BAB-878B-086C298C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815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ritmo de entrega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73DEB-3369-4E01-9FFD-3AF7597B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BE6DA"/>
                </a:solidFill>
                <a:latin typeface="Aptos"/>
                <a:ea typeface="Aptos"/>
                <a:cs typeface="Aptos"/>
              </a:rPr>
              <a:t>Stack executada: Next.js + FastAPI + PostgreSQL</a:t>
            </a:r>
          </a:p>
        </p:txBody>
      </p:sp>
    </p:spTree>
    <p:extLst>
      <p:ext uri="{BB962C8B-B14F-4D97-AF65-F5344CB8AC3E}">
        <p14:creationId xmlns:p14="http://schemas.microsoft.com/office/powerpoint/2010/main" val="159628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58B7D-422D-4DC3-948C-7E026B66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E8C9E-19B2-4170-B117-4BD25140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C1604-5294-4897-A8FA-2F80758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51CC7-C3C4-42B2-AD8A-E6F4B74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40E82B9E-F35B-4F92-86B3-A684EDB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866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3EB2A20D-6FAC-4352-91B3-8BFFF657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7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C454B-2E16-479B-928C-1EEFDA26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O quadro mostra onde o card esta, mas nao mostra por que o fluxo travou.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12942-31D3-43CD-B08A-B7FD9001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700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3A33"/>
                </a:solidFill>
                <a:latin typeface="Aptos"/>
                <a:ea typeface="Aptos"/>
                <a:cs typeface="Aptos"/>
              </a:rPr>
              <a:t>Equipes que usam Trello ou quadros visuais acabam levando a analise para Power-Ups, BI externo ou planilhas. O resultado e decisao tardia, dado disperso e pouca visibilidade de gargalo.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DBFD3-6E6E-4961-8576-6E0CC683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5C8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F6E34-A81C-41D5-B4B7-13EB7A0F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Sem historico confiavel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F8C3A-5B73-4A82-A1FD-01BB95D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Movimentos viram memoria informal, nao dado auditavel.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EC261-6595-4099-81D6-DCB51F6A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2905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5C8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0B652-45CB-43E5-9CE9-0575582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Metrica fora do fluxo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DE454-1D1D-4BB1-8A86-202F514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148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 equipe mede depois, em outro lugar, com atraso.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EBE5F-E9ED-42FC-8D6E-9356009A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5C8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7017F-2549-4A0D-8908-ECA6A090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Gargalo invisivel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84E9A-0187-4D3F-B5A5-AF8B4D29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O gestor descobre bloqueios quando o prazo ja sofreu.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FBC45-54EE-4CE4-A740-CFA694A7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60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6045"/>
                </a:solidFill>
                <a:latin typeface="Aptos"/>
                <a:ea typeface="Aptos"/>
                <a:cs typeface="Aptos"/>
              </a:rPr>
              <a:t>Tese: a metrica precisa nascer da movimentacao real do card.</a:t>
            </a:r>
          </a:p>
        </p:txBody>
      </p:sp>
    </p:spTree>
    <p:extLst>
      <p:ext uri="{BB962C8B-B14F-4D97-AF65-F5344CB8AC3E}">
        <p14:creationId xmlns:p14="http://schemas.microsoft.com/office/powerpoint/2010/main" val="18776832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0A0624-723A-4D12-97AB-C20B6E7D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28FB2-30CC-4200-AFBE-8DB1BAC7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DAEB1-0C00-486D-878F-28964DE0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8CC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EF320-30E8-491F-9C54-E8DE93EB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8C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F0D249C1-C6D9-4551-B77E-B44B09B4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771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550C473E-9000-40DF-971F-F658F6C6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E6DA"/>
                </a:solidFill>
                <a:latin typeface="Aptos"/>
                <a:ea typeface="Aptos"/>
                <a:cs typeface="Aptos"/>
              </a:rPr>
              <a:t>SOLUCAO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29B40-B9BB-4394-8BF1-3E4EDAE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rPr>
              <a:t>Cada transicao vira evidencia. A evidencia vira metrica.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2376F-5B0D-4DC6-9AAC-7BABE6D3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6DA"/>
                </a:solidFill>
                <a:latin typeface="Aptos"/>
                <a:ea typeface="Aptos"/>
                <a:cs typeface="Aptos"/>
              </a:rPr>
              <a:t>A FlowMetrics nao pede preenchimento manual de relatorio. Ela observa o fluxo do quadro e calcula indicadores automaticamente.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97248-871B-49FD-A64F-99F5227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A395D-FC2D-46DE-BE3B-EA2861E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44FA1-6453-4C3C-AEEC-FA85F05B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8B9FD-F4D7-4788-A2D2-A9FFFAB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tarefa criada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11995-55DF-4B3E-970D-09C5211F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7143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A4C45-3B2E-46C1-995B-B5699D4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862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31359-0B5A-475D-9C8C-151B4C9D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E3083-B5DC-460B-ADFD-ABDE3C4B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38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Transicao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3F170-79D3-4A85-B403-795BCF38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4386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timestamp gravado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27B33-F5F1-4FF5-B287-776237D9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38650"/>
            <a:ext cx="7143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911D0-3A87-4404-B240-E7237AFF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0A1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0FC08-57A1-4A6A-B4B0-F986358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5ED97-87EE-4034-B2B8-D43450B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38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Metricas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C8700-E781-4EF8-AF1A-509EBCC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lead, cycle, throughput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FD58A-3B6A-4850-BA4B-0E40371D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7143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2E1F1-CB26-4D49-8F96-E918EC71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862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4E986-7A16-4767-8995-4692D759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D94B1-5577-4651-8BAB-53BD0678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38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Decisao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53571-20B5-4370-8D72-7351494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4386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gargalo visivel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EFE8C-84F8-448A-8270-6284134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6DA"/>
                </a:solidFill>
                <a:latin typeface="Aptos"/>
                <a:ea typeface="Aptos"/>
                <a:cs typeface="Aptos"/>
              </a:rPr>
              <a:t>Resultado esperado: menos achismo e mais gestao por fluxo.</a:t>
            </a:r>
          </a:p>
        </p:txBody>
      </p:sp>
    </p:spTree>
    <p:extLst>
      <p:ext uri="{BB962C8B-B14F-4D97-AF65-F5344CB8AC3E}">
        <p14:creationId xmlns:p14="http://schemas.microsoft.com/office/powerpoint/2010/main" val="7713985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70255-3880-40A7-A09D-E278EE4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84EA4-2613-45BB-8ECA-8F2BCC02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4A69-E575-44B3-BF42-ED08E40B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C3DBB-982A-4FCE-B13A-9F273F2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9FA72921-29A4-443F-8554-662E5B48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866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EFFD582C-9A27-4BD6-AE4A-2D514D95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7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MVP EXECUTAVEL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14C3-B87A-4BF5-A056-5AAADA54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48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 entrega agora roda na stack definida: Next.js, FastAPI e PostgreSQL.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68D1C-6BC4-4EBB-B5CB-787029B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4D281-EDC3-4EBB-8FDD-D6E3F58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C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3E0C6-003E-4981-B0C9-A978E32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C958E-BB98-4B87-B2ED-0F7E2D9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Next.js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BEC88-01E0-44CC-9DBC-293F459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0F15B-0F13-47D7-8576-0BF07F0F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45F61-DA7C-43B2-9D1A-710BC714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7A6D0-6B8B-4362-9789-EED7700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52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9F04C-052F-47F4-857D-9DD44623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F9E5D-0AAC-4EBE-9BEF-E6C5B741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rotas + Pydantic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6E223-0A72-40E9-8BFB-C038962E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8BED4-0013-4079-90C2-D087BAEE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832FF-F6BA-441C-AB66-8DE246E2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52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BANCO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8DE6D-5155-486D-9B88-B42CE4E5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DB317-A86E-4A28-9A55-5DB408DD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cards + transicoes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C20E7-7E71-4C97-8FBF-FFB2C36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15277-F9E8-4623-BEF1-0CE79859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D942A-AFB2-41AE-9AA6-5F877AF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7D75"/>
                </a:solidFill>
                <a:latin typeface="Aptos"/>
                <a:ea typeface="Aptos"/>
                <a:cs typeface="Aptos"/>
              </a:rPr>
              <a:t>INFRA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34B02-C88C-46D6-9B81-EEB225B8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Compose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22C84-BFE0-4E7B-9880-6E134692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postgres, api, web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4B0E0-5F84-405A-BE9C-91DCCBC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69858-7FD0-4ECD-94ED-6746A254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3A33"/>
                </a:solidFill>
                <a:latin typeface="Aptos"/>
                <a:ea typeface="Aptos"/>
                <a:cs typeface="Aptos"/>
              </a:rPr>
              <a:t>Demonstre em sala: abrir http://localhost:3000, mover um card, criar um novo card e mostrar auditoria/metricas atualizando a partir da API.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75A62-7608-412C-B6A9-E8C5E74D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 pasta `mvp/` ficou apenas como fallback estatico; a entrega principal esta em `apps/web`, `apps/api` e `infra`.</a:t>
            </a:r>
          </a:p>
        </p:txBody>
      </p:sp>
    </p:spTree>
    <p:extLst>
      <p:ext uri="{BB962C8B-B14F-4D97-AF65-F5344CB8AC3E}">
        <p14:creationId xmlns:p14="http://schemas.microsoft.com/office/powerpoint/2010/main" val="957961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5F8DB-BCE5-45AB-9AD8-75E3B8C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74784-7642-4A2B-8C48-10664F57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250C0-CF47-405F-AD3C-5EE7BD1D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8CC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20AFD-5807-40C8-BF37-D4BC84E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8C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7234B8B-5F13-4921-B305-4042E000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771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32234380-2AAD-4B04-A386-5DB3FA6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E6DA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D3617-7345-4C37-BDF5-2763448A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rPr>
              <a:t>Separacao clara: interface, API, regra de metrica e persistencia.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62870-5DA1-4353-B101-4A3CF320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F4BB9-DE44-4B09-A017-854678C7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Usuario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7759-9EB4-4883-8583-66853A7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gestor no navegador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8F791-E382-460E-B7C1-942C32D4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E06D1-BC18-4175-9997-837B60EE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Next.js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1401F-F257-4DDF-A318-D01953D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147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apps/web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2EB32-6003-4175-809E-3B504F86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C66DA-98C5-4FFD-8205-C05798D0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AADC2-0F07-4033-A686-C6071C4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apps/api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ADCA8-C833-4A42-8F73-008389AD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D6D54-7F33-4D1C-A86F-21041D2D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Metrics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EA7A9-5403-4938-B20E-42B70228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calculo puro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9AC41-4B9C-4662-BA1A-A75129C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1480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39E90-59BC-4D62-8DED-DA063A4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42B6D-D2F0-4551-8E26-E99D88F3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720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SQL / psycopg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CC6D9-A8F7-484F-A6DB-AA13FC77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05200"/>
            <a:ext cx="133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785FF-74EC-4F69-B00F-D00F5D1C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6576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8BDC5-1363-40A4-90BB-AB6BC0B8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624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fonte da verdade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FCDD5-C3EC-4937-91C7-A1F2E415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476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88002-5FF1-46BF-902F-8B6E7B6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67125"/>
            <a:ext cx="476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28579-2E11-4871-905B-88568C1F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76250" cy="-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10680-A722-451B-BB7D-ADE1FDF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476250" cy="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48125-2AC1-4FC2-AE96-24B9192F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24375"/>
            <a:ext cx="457200" cy="-619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185106-9F29-49A8-85A5-AF9E7BB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86125"/>
            <a:ext cx="457200" cy="619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F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3BBAF-9A40-43BB-B30D-D7C3DDA5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6DA"/>
                </a:solidFill>
                <a:latin typeface="Aptos"/>
                <a:ea typeface="Aptos"/>
                <a:cs typeface="Aptos"/>
              </a:rPr>
              <a:t>Planejado para evoluir: autenticacao externa, GitHub Actions e deploy Railway sem reescrever a regra de negocio.</a:t>
            </a:r>
          </a:p>
        </p:txBody>
      </p:sp>
    </p:spTree>
    <p:extLst>
      <p:ext uri="{BB962C8B-B14F-4D97-AF65-F5344CB8AC3E}">
        <p14:creationId xmlns:p14="http://schemas.microsoft.com/office/powerpoint/2010/main" val="2977706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E11518-2246-4465-A6B6-97EF460B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C1B4C-FACE-48B7-B4BB-71D30918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51704-C1EE-4578-8FE5-7A796F5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E2B29-4251-4E69-8E7D-34675505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CA0B6A9E-6D75-47E9-BDF0-3AE81B35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866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D5DE0AD1-3BFD-4EC7-A325-FAD0050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7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DADOS E METRICAS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07456-F784-46A7-A0FE-4B074C51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card_transitions e o dado central do produto.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3CA58-35D2-4EF3-8DF0-A5667BE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3A33"/>
                </a:solidFill>
                <a:latin typeface="Aptos"/>
                <a:ea typeface="Aptos"/>
                <a:cs typeface="Aptos"/>
              </a:rPr>
              <a:t>Cada movimento grava origem, destino, horario e card. A partir disso, o servico calcula indicadores sem depender de preenchimento manual.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04E0B-BB7A-4BBB-A09F-14A4FA61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04900"/>
            <a:ext cx="32575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C56D1-0291-488A-A801-B1535DE5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906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Evento salvo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C4077-270F-4CFE-995A-15884213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5F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F5F4F"/>
                </a:solidFill>
                <a:latin typeface="Aptos"/>
                <a:ea typeface="Aptos"/>
                <a:cs typeface="Aptos"/>
              </a:rPr>
              <a:t>card_id</a:t>
            </a:r>
          </a:p>
          <a:p xmlns:a="http://schemas.openxmlformats.org/drawingml/2006/main">
            <a:pPr algn="l">
              <a:defRPr sz="1350" b="0">
                <a:solidFill>
                  <a:srgbClr val="2F5F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F5F4F"/>
                </a:solidFill>
                <a:latin typeface="Aptos"/>
                <a:ea typeface="Aptos"/>
                <a:cs typeface="Aptos"/>
              </a:rPr>
              <a:t>from_column</a:t>
            </a:r>
          </a:p>
          <a:p xmlns:a="http://schemas.openxmlformats.org/drawingml/2006/main">
            <a:pPr algn="l">
              <a:defRPr sz="1350" b="0">
                <a:solidFill>
                  <a:srgbClr val="2F5F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F5F4F"/>
                </a:solidFill>
                <a:latin typeface="Aptos"/>
                <a:ea typeface="Aptos"/>
                <a:cs typeface="Aptos"/>
              </a:rPr>
              <a:t>to_column</a:t>
            </a:r>
          </a:p>
          <a:p xmlns:a="http://schemas.openxmlformats.org/drawingml/2006/main">
            <a:pPr algn="l">
              <a:defRPr sz="1350" b="0">
                <a:solidFill>
                  <a:srgbClr val="2F5F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F5F4F"/>
                </a:solidFill>
                <a:latin typeface="Aptos"/>
                <a:ea typeface="Aptos"/>
                <a:cs typeface="Aptos"/>
              </a:rPr>
              <a:t>moved_at</a:t>
            </a:r>
          </a:p>
          <a:p xmlns:a="http://schemas.openxmlformats.org/drawingml/2006/main">
            <a:pPr algn="l">
              <a:defRPr sz="1350" b="0">
                <a:solidFill>
                  <a:srgbClr val="2F5F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F5F4F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698EE-4FEE-49F4-A3C0-BC2CBE5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Lead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BBF2D-F21F-4049-A062-2AD76ABF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480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03C18-D274-4D35-ABFB-6351A137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created_at -&gt; primeira entrada em 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C66D7-7F1E-4ED5-B140-DB0DA81C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Cycle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0E3F7-2228-4BF4-82F1-A3130BA6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00500"/>
            <a:ext cx="2085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57C77-2962-47D8-B573-73A7DBF4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primeira entrada em doing -&gt; done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4514B-A1BB-4027-81C6-123EE45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Throughput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95DB7-5CB8-4291-857F-79E12E0E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52950"/>
            <a:ext cx="2600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69A38-08C7-4B91-B6B7-75B6C16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cards concluidos nos ultimos 7 dias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7EF50-6AB8-4237-9CFE-BAAABF1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Gargalo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80F0A-6FD9-4AA6-8614-1202F559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05400"/>
            <a:ext cx="3114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C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3E70D-9D0B-4DDC-B93F-BDC3D905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maior permanencia media por coluna</a:t>
            </a:r>
          </a:p>
        </p:txBody>
      </p:sp>
    </p:spTree>
    <p:extLst>
      <p:ext uri="{BB962C8B-B14F-4D97-AF65-F5344CB8AC3E}">
        <p14:creationId xmlns:p14="http://schemas.microsoft.com/office/powerpoint/2010/main" val="8974674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4E6DA-1298-4E3B-A61F-37D4675D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21897-C7F2-454D-8C37-5F44F862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F469D-7613-4F98-8DCC-D8BFF86F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48F41-A5AC-4900-ABCC-128126C1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B7929429-76D7-4D53-AB0B-351E23F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866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2ED5409B-D2C2-44C6-912C-1FDB238C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77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GANTT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BA521-54C1-482F-A889-8FB00BEF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O cronograma saiu da ideia para uma entrega demonstravel.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6E8C1-9AB2-40B4-8716-19C07476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1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073E3-EE5B-4793-9DDF-C7920FA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C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062FB-75EC-468C-A6EB-294F9CC3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600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45D64-AA86-42C3-8665-7E37AD35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4C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C9A"/>
                </a:solidFill>
                <a:latin typeface="Aptos"/>
                <a:ea typeface="Aptos"/>
                <a:cs typeface="Aptos"/>
              </a:rPr>
              <a:t>Fev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41A91-518F-4A89-84A4-3D609AD5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Planejamento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423F9-019B-4FFB-8FA9-84097A9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A8B06-6692-4E6C-A645-23ED9BE0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243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1D215-1A13-4C7C-8442-9018C28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577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5F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5F4F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C4DB5-1DF3-4FE0-9370-AB422C60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UX e arquitetura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BADFC-3F5C-49E6-9124-A044A5FD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2266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3F3FC-DAAC-435B-B631-2502469A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266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5181A-9E16-4C81-9F6A-C3190A18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60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6045"/>
                </a:solidFill>
                <a:latin typeface="Aptos"/>
                <a:ea typeface="Aptos"/>
                <a:cs typeface="Aptos"/>
              </a:rPr>
              <a:t>Abr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5846E-0AF1-4EF5-982C-6C9C0662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053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42744-0703-4108-A9E0-65559FA3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6CC27-C180-4A59-9883-2875EC9C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243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BF0A1-37A9-4A4C-8986-1C5AB404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A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A13A"/>
                </a:solidFill>
                <a:latin typeface="Aptos"/>
                <a:ea typeface="Aptos"/>
                <a:cs typeface="Aptos"/>
              </a:rPr>
              <a:t>Mai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2433F-F29D-4545-8CA4-19811D2D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05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QA e 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93487-971E-4F24-A384-657E8640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6DB0E-913A-4740-B2EB-D2036717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24350"/>
            <a:ext cx="1504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D8CB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C5661-34E5-47A6-9275-BE54C811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577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3A33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327588-599C-4533-AE70-07D93540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053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Apresentacao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D634DC-D7AD-4A5F-883C-E2DDC8D1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3A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3A33"/>
                </a:solidFill>
                <a:latin typeface="Aptos"/>
                <a:ea typeface="Aptos"/>
                <a:cs typeface="Aptos"/>
              </a:rPr>
              <a:t>O foco do bimestre foi provar a funcionalidade central antes de expandir cadastro, permissoes e integracoes.</a:t>
            </a:r>
          </a:p>
        </p:txBody>
      </p:sp>
    </p:spTree>
    <p:extLst>
      <p:ext uri="{BB962C8B-B14F-4D97-AF65-F5344CB8AC3E}">
        <p14:creationId xmlns:p14="http://schemas.microsoft.com/office/powerpoint/2010/main" val="5672934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A81CB2-6D8F-469C-B122-31B4EBC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96DBF-6660-47F3-B6E1-AD01CEE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11315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7331B-1C4A-4A38-9636-4484028B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48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8CC"/>
                </a:solidFill>
                <a:latin typeface="Aptos"/>
                <a:ea typeface="Aptos"/>
                <a:cs typeface="Aptos"/>
              </a:rPr>
              <a:t>FlowMetrics MVP | Gerencia e Arquitetura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E3921-2368-44A2-9039-214F50A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2484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BD8C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8C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65C8B343-E5BE-4E75-B119-812AD0C8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7713"/>
            <a:ext cx="266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DCAFE276-C903-4760-9119-17FFE684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E6DA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3D5F6-A006-454D-BDBA-8515E3B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AF0"/>
                </a:solidFill>
                <a:latin typeface="Aptos Display"/>
                <a:ea typeface="Aptos Display"/>
                <a:cs typeface="Aptos Display"/>
              </a:rPr>
              <a:t>A entrega prova produto, arquitetura e execucao tecnica.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050D1-8605-4D04-9454-59021B7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7B38A-BED6-4FFC-BF51-2DFFC841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FEF9D-B9B6-48B4-995F-44C65A4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097EA-C402-4792-981E-4AE43761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Build Next.js concluido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091F-19EE-4339-B78B-D6CB931C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908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64746-2D0D-4727-B2EF-4172DAE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908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D52C-A5FC-4A2C-B2B0-848D5512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337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39134-A297-4F75-84E9-E655AB51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4805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Teste unitario de metricas passou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D64C8-9D92-4158-A0FA-589BEF9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F7F6E-7980-42CB-825C-15382493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7DBDB-DA15-4FA4-9CBD-17D2135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Seguranca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86E9A-F859-420A-9C5A-803A7497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npm audit sem vulnerabilidades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F1EE2-5B49-4650-9DE3-B50CCCDE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30E01-3586-4808-A89F-74E454FB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1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AEE22-6032-4E7C-9B15-0789D564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576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31F"/>
                </a:solidFill>
                <a:latin typeface="Aptos Display"/>
                <a:ea typeface="Aptos Display"/>
                <a:cs typeface="Aptos Display"/>
              </a:rPr>
              <a:t>Smoke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DBEF3-4809-4CB1-BBDD-05D9C36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72000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7D75"/>
                </a:solidFill>
                <a:latin typeface="Aptos"/>
                <a:ea typeface="Aptos"/>
                <a:cs typeface="Aptos"/>
              </a:rPr>
              <a:t>API + PostgreSQL criaram e moveram card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631D7-C5E5-4009-BE0F-0D0E3564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BE6D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BE6DA"/>
                </a:solidFill>
                <a:latin typeface="Aptos"/>
                <a:ea typeface="Aptos"/>
                <a:cs typeface="Aptos"/>
              </a:rPr>
              <a:t>Proximos passos: autenticacao externa, permissoes por equipe, CI/CD GitHub Actions, deploy Railway e relatorios historicos por periodo.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298B1-A72D-4B8F-8FCF-6A52AAD5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60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6045"/>
                </a:solidFill>
                <a:latin typeface="Aptos"/>
                <a:ea typeface="Aptos"/>
                <a:cs typeface="Aptos"/>
              </a:rPr>
              <a:t>Frase final: transformar movimento em inteligencia operacional.</a:t>
            </a:r>
          </a:p>
        </p:txBody>
      </p:sp>
    </p:spTree>
    <p:extLst>
      <p:ext uri="{BB962C8B-B14F-4D97-AF65-F5344CB8AC3E}">
        <p14:creationId xmlns:p14="http://schemas.microsoft.com/office/powerpoint/2010/main" val="2071752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2026-06-08T03:09:13.9930000Z</dcterms:created>
  <dcterms:modified xsi:type="dcterms:W3CDTF">2026-06-08T03:09:13.9930000Z</dcterms:modified>
</coreProperties>
</file>