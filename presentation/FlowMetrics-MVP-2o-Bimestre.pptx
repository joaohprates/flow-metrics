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5f7c55469045be" /><Relationship Type="http://schemas.openxmlformats.org/officeDocument/2006/relationships/extended-properties" Target="/docProps/app.xml" Id="Rba85ef996bdd4aec" /><Relationship Type="http://schemas.openxmlformats.org/officeDocument/2006/relationships/officeDocument" Target="/ppt/presentation.xml" Id="R8e78212e630444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e266d8483346e8"/>
  </p:sldMasterIdLst>
  <p:notesMasterIdLst>
    <p:notesMasterId xmlns:r="http://schemas.openxmlformats.org/officeDocument/2006/relationships" r:id="R9b5ffc34ac5a45c2"/>
  </p:notesMasterIdLst>
  <p:sldIdLst>
    <p:sldId xmlns:r="http://schemas.openxmlformats.org/officeDocument/2006/relationships" id="256" r:id="Ra5e742af2d694abc"/>
    <p:sldId xmlns:r="http://schemas.openxmlformats.org/officeDocument/2006/relationships" id="257" r:id="R8152938e1b094a54"/>
    <p:sldId xmlns:r="http://schemas.openxmlformats.org/officeDocument/2006/relationships" id="258" r:id="R7ef8e36270804264"/>
    <p:sldId xmlns:r="http://schemas.openxmlformats.org/officeDocument/2006/relationships" id="259" r:id="Raa893629af2f4a1f"/>
    <p:sldId xmlns:r="http://schemas.openxmlformats.org/officeDocument/2006/relationships" id="260" r:id="R785f81ec49d44a89"/>
    <p:sldId xmlns:r="http://schemas.openxmlformats.org/officeDocument/2006/relationships" id="261" r:id="R5f3dcc5e9b6147d9"/>
    <p:sldId xmlns:r="http://schemas.openxmlformats.org/officeDocument/2006/relationships" id="262" r:id="R87a41ec7891b48f8"/>
    <p:sldId xmlns:r="http://schemas.openxmlformats.org/officeDocument/2006/relationships" id="263" r:id="Rb2ae855571ac40b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5ddc90c5e8a44ac" /><Relationship Type="http://schemas.openxmlformats.org/officeDocument/2006/relationships/slideMaster" Target="/ppt/slideMasters/slideMaster1.xml" Id="R55e266d8483346e8" /><Relationship Type="http://schemas.openxmlformats.org/officeDocument/2006/relationships/notesMaster" Target="/ppt/notesMasters/notesMaster1.xml" Id="R9b5ffc34ac5a45c2" /><Relationship Type="http://schemas.openxmlformats.org/officeDocument/2006/relationships/presProps" Target="/ppt/presProps.xml" Id="R71583cf4fed64276" /><Relationship Type="http://schemas.openxmlformats.org/officeDocument/2006/relationships/viewProps" Target="/ppt/viewProps.xml" Id="Rfe9d05514de24900" /><Relationship Type="http://schemas.openxmlformats.org/officeDocument/2006/relationships/tableStyles" Target="/ppt/tableStyles.xml" Id="R7859347d43244e1d" /><Relationship Type="http://schemas.openxmlformats.org/officeDocument/2006/relationships/slide" Target="/ppt/slides/slide1.xml" Id="Ra5e742af2d694abc" /><Relationship Type="http://schemas.openxmlformats.org/officeDocument/2006/relationships/slide" Target="/ppt/slides/slide2.xml" Id="R8152938e1b094a54" /><Relationship Type="http://schemas.openxmlformats.org/officeDocument/2006/relationships/slide" Target="/ppt/slides/slide3.xml" Id="R7ef8e36270804264" /><Relationship Type="http://schemas.openxmlformats.org/officeDocument/2006/relationships/slide" Target="/ppt/slides/slide4.xml" Id="Raa893629af2f4a1f" /><Relationship Type="http://schemas.openxmlformats.org/officeDocument/2006/relationships/slide" Target="/ppt/slides/slide5.xml" Id="R785f81ec49d44a89" /><Relationship Type="http://schemas.openxmlformats.org/officeDocument/2006/relationships/slide" Target="/ppt/slides/slide6.xml" Id="R5f3dcc5e9b6147d9" /><Relationship Type="http://schemas.openxmlformats.org/officeDocument/2006/relationships/slide" Target="/ppt/slides/slide7.xml" Id="R87a41ec7891b48f8" /><Relationship Type="http://schemas.openxmlformats.org/officeDocument/2006/relationships/slide" Target="/ppt/slides/slide8.xml" Id="Rb2ae855571ac40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192ec8cd684e3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b15ff4583949ed" /><Relationship Type="http://schemas.openxmlformats.org/officeDocument/2006/relationships/notesMaster" Target="/ppt/notesMasters/notesMaster1.xml" Id="R5342aafc02e241d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185c675bff4a78" /><Relationship Type="http://schemas.openxmlformats.org/officeDocument/2006/relationships/notesMaster" Target="/ppt/notesMasters/notesMaster1.xml" Id="Rb74e9961218b4a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f903f64cd04c82" /><Relationship Type="http://schemas.openxmlformats.org/officeDocument/2006/relationships/notesMaster" Target="/ppt/notesMasters/notesMaster1.xml" Id="R6c6374d2b4714a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4f72fa62cdc4941" /><Relationship Type="http://schemas.openxmlformats.org/officeDocument/2006/relationships/notesMaster" Target="/ppt/notesMasters/notesMaster1.xml" Id="R42702049c4d546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2d4ea70bdf460a" /><Relationship Type="http://schemas.openxmlformats.org/officeDocument/2006/relationships/notesMaster" Target="/ppt/notesMasters/notesMaster1.xml" Id="R145161e8515445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115a2bbb6664b24" /><Relationship Type="http://schemas.openxmlformats.org/officeDocument/2006/relationships/notesMaster" Target="/ppt/notesMasters/notesMaster1.xml" Id="R23a66a20ce3240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577c0d473fb4fc7" /><Relationship Type="http://schemas.openxmlformats.org/officeDocument/2006/relationships/notesMaster" Target="/ppt/notesMasters/notesMaster1.xml" Id="Rb7e27162eb0248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22955e0526c4918" /><Relationship Type="http://schemas.openxmlformats.org/officeDocument/2006/relationships/notesMaster" Target="/ppt/notesMasters/notesMaster1.xml" Id="R8cd274a419934c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4f2458daa040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103fc2bfce423e" /><Relationship Type="http://schemas.openxmlformats.org/officeDocument/2006/relationships/slideLayout" Target="/ppt/slideLayouts/slideLayout1.xml" Id="Rfb6a6a9d673349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6a6a9d673349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0c5e5a5734c52" /><Relationship Type="http://schemas.openxmlformats.org/officeDocument/2006/relationships/notesSlide" Target="/ppt/notesSlides/notesSlide1.xml" Id="R3bee5d1d50844d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8127276554474" /><Relationship Type="http://schemas.openxmlformats.org/officeDocument/2006/relationships/notesSlide" Target="/ppt/notesSlides/notesSlide2.xml" Id="Re4ab3d5caef747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67c82f8ed4e28" /><Relationship Type="http://schemas.openxmlformats.org/officeDocument/2006/relationships/notesSlide" Target="/ppt/notesSlides/notesSlide3.xml" Id="R673f059929e54f2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3384e8da10445d" /><Relationship Type="http://schemas.openxmlformats.org/officeDocument/2006/relationships/notesSlide" Target="/ppt/notesSlides/notesSlide4.xml" Id="R3f87f5f7b3ba4c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777b8c9b46417e" /><Relationship Type="http://schemas.openxmlformats.org/officeDocument/2006/relationships/notesSlide" Target="/ppt/notesSlides/notesSlide5.xml" Id="Rcaf01caf41a94b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eeba1abbb4581" /><Relationship Type="http://schemas.openxmlformats.org/officeDocument/2006/relationships/notesSlide" Target="/ppt/notesSlides/notesSlide6.xml" Id="R9b3daf06a1874f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1210d340d4343" /><Relationship Type="http://schemas.openxmlformats.org/officeDocument/2006/relationships/notesSlide" Target="/ppt/notesSlides/notesSlide7.xml" Id="R03954cc04d83451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7963ff11814525" /><Relationship Type="http://schemas.openxmlformats.org/officeDocument/2006/relationships/notesSlide" Target="/ppt/notesSlides/notesSlide8.xml" Id="R6f621efe62a04a2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456A2FD-5E78-4D25-8A28-B028A920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91609-E03A-4CEB-9140-598FDD78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113157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8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72971-5EE0-44A8-AC73-A359D637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48400"/>
            <a:ext cx="571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BD8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BD8CC"/>
                </a:solidFill>
                <a:latin typeface="Aptos"/>
                <a:ea typeface="Aptos"/>
                <a:cs typeface="Aptos"/>
              </a:rPr>
              <a:t>FlowMetrics MVP | Gerencia e Arquitetura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61DE5-089F-4D77-972D-7269A325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4840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8C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8C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7DBFEEBD-AB02-4B64-8D71-AF4D481C4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7713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89B8A45E-60F9-4BCF-80C2-BAC347DC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667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BE6DA"/>
                </a:solidFill>
                <a:latin typeface="Aptos"/>
                <a:ea typeface="Aptos"/>
                <a:cs typeface="Aptos"/>
              </a:rPr>
              <a:t>STARTUP E PROPOSTA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C4D411-C6C3-424C-BA9D-B603FA48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6096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AF0"/>
                </a:solidFill>
                <a:latin typeface="Aptos Display"/>
                <a:ea typeface="Aptos Display"/>
                <a:cs typeface="Aptos Display"/>
              </a:defRPr>
            </a:pPr>
            <a:r>
              <a:rPr sz="5250" b="1">
                <a:solidFill>
                  <a:srgbClr val="FFFAF0"/>
                </a:solidFill>
                <a:latin typeface="Aptos Display"/>
                <a:ea typeface="Aptos Display"/>
                <a:cs typeface="Aptos Display"/>
              </a:rPr>
              <a:t>FlowMetrics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6BC04C-6D36-4AA6-9327-C2B42B71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14600"/>
            <a:ext cx="5905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DBE6DA"/>
                </a:solidFill>
                <a:latin typeface="Aptos"/>
                <a:ea typeface="Aptos"/>
                <a:cs typeface="Aptos"/>
              </a:rPr>
              <a:t>Kanban que transforma movimento em metrica operacional.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E7796A-26D3-4529-9F92-71DBFAEC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909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1430">
            <a:solidFill>
              <a:srgbClr val="DBE6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85A5DE-1788-4A8C-BFB9-6B9AF516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57575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BE6DA"/>
                </a:solidFill>
                <a:latin typeface="Aptos"/>
                <a:ea typeface="Aptos"/>
                <a:cs typeface="Aptos"/>
              </a:rPr>
              <a:t>Concorrente direto: Trello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46B98-352B-483A-ADF1-5789AF1E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1430">
            <a:solidFill>
              <a:srgbClr val="D960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47B38-1B0E-4507-B176-B2469022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57575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D9604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96045"/>
                </a:solidFill>
                <a:latin typeface="Aptos"/>
                <a:ea typeface="Aptos"/>
                <a:cs typeface="Aptos"/>
              </a:rPr>
              <a:t>Diferencial: metricas nativas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BE1811-58A0-48D6-B7FF-B104C2CA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123950"/>
            <a:ext cx="3714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5B631E-7EAB-4A08-B7F7-3975BB9F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66850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5245D6-60F5-48D5-ABF3-2EF21119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4668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CA8CC-69AA-4A65-BBAF-F0933903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38300"/>
            <a:ext cx="2800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LEAD TIME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C63394-6848-424F-A92D-EAF36D95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6690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criado -&gt; concluido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54EA5F-0A00-4D44-AF15-E0EC5C7D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669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tempo total percebido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0641FB-7E86-4E09-9B87-246C6F76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159F26-DB00-4AF6-A415-D608B993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241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CECD2C-2286-457C-A7BA-E76A57DE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95600"/>
            <a:ext cx="2800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CYCLE TIME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699B6E-F071-44E7-A5CB-07FBCD96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12420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doing -&gt; done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19E642-D36C-4222-BE7E-8A70FC25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242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tempo real de execucao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29DC93-59AD-4C9F-8AB5-F5E36AF8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81450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536AA9-87C7-4889-ABF6-7EF0D65E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814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9DD651-6692-4D01-82EA-BB23544B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2800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THROUGHPUT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963ABC-CCE9-42B4-B9D1-C9A25E44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ultimos 7 dias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06D3F5-CE78-4BAB-878B-086C298C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7815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ritmo de entrega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473DEB-3369-4E01-9FFD-3AF7597B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590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BE6DA"/>
                </a:solidFill>
                <a:latin typeface="Aptos"/>
                <a:ea typeface="Aptos"/>
                <a:cs typeface="Aptos"/>
              </a:rPr>
              <a:t>Stack executada: Next.js + FastAPI + PostgreSQL</a:t>
            </a:r>
          </a:p>
        </p:txBody>
      </p:sp>
    </p:spTree>
    <p:extLst>
      <p:ext uri="{BB962C8B-B14F-4D97-AF65-F5344CB8AC3E}">
        <p14:creationId xmlns:p14="http://schemas.microsoft.com/office/powerpoint/2010/main" val="1596280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558B7D-422D-4DC3-948C-7E026B666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E8C9E-19B2-4170-B117-4BD251400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113157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A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BC1604-5294-4897-A8FA-2F807584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48400"/>
            <a:ext cx="571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FlowMetrics MVP | Gerencia e Arquitetura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51CC7-C3C4-42B2-AD8A-E6F4B7434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4840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3A3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40E82B9E-F35B-4F92-86B3-A684EDBE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8663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3EB2A20D-6FAC-4352-91B3-8BFFF657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4770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3A33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C454B-2E16-479B-928C-1EEFDA262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723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O quadro mostra onde o card esta, mas nao mostra por que o fluxo travou.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C12942-31D3-43CD-B08A-B7FD9001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47900"/>
            <a:ext cx="70008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3A33"/>
                </a:solidFill>
                <a:latin typeface="Aptos"/>
                <a:ea typeface="Aptos"/>
                <a:cs typeface="Aptos"/>
              </a:rPr>
              <a:t>Equipes que usam Trello ou quadros visuais acabam levando a analise para Power-Ups, BI externo ou planilhas. O resultado e decisao tardia, dado disperso e pouca visibilidade de gargalo.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DBFD3-6E6E-4961-8576-6E0CC683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29050"/>
            <a:ext cx="30289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5C8B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F6E34-A81C-41D5-B4B7-13EB7A0F0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7670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Sem historico confiavel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DF8C3A-5B73-4A82-A1FD-01BB95DC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14850"/>
            <a:ext cx="2400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Movimentos viram memoria informal, nao dado auditavel.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EC261-6595-4099-81D6-DCB51F6A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29050"/>
            <a:ext cx="30289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5C8B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70B652-45CB-43E5-9CE9-05755824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07670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Metrica fora do fluxo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6DE454-1D1D-4BB1-8A86-202F5146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514850"/>
            <a:ext cx="2400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A equipe mede depois, em outro lugar, com atraso.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7EBE5F-E9ED-42FC-8D6E-9356009A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29050"/>
            <a:ext cx="30289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5C8B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7017F-2549-4A0D-8908-ECA6A090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07670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Gargalo invisivel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884E9A-0187-4D3F-B5A5-AF8B4D29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14850"/>
            <a:ext cx="2400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O gestor descobre bloqueios quando o prazo ja sofreu.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AFBC45-54EE-4CE4-A740-CFA694A7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9604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96045"/>
                </a:solidFill>
                <a:latin typeface="Aptos"/>
                <a:ea typeface="Aptos"/>
                <a:cs typeface="Aptos"/>
              </a:rPr>
              <a:t>Tese: a metrica precisa nascer da movimentacao real do card.</a:t>
            </a:r>
          </a:p>
        </p:txBody>
      </p:sp>
    </p:spTree>
    <p:extLst>
      <p:ext uri="{BB962C8B-B14F-4D97-AF65-F5344CB8AC3E}">
        <p14:creationId xmlns:p14="http://schemas.microsoft.com/office/powerpoint/2010/main" val="18776832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0A0624-723A-4D12-97AB-C20B6E7D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428FB2-30CC-4200-AFBE-8DB1BAC7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113157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8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DAEB1-0C00-486D-878F-28964DE0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48400"/>
            <a:ext cx="571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BD8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BD8CC"/>
                </a:solidFill>
                <a:latin typeface="Aptos"/>
                <a:ea typeface="Aptos"/>
                <a:cs typeface="Aptos"/>
              </a:rPr>
              <a:t>FlowMetrics MVP | Gerencia e Arquitetura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F320-30E8-491F-9C54-E8DE93EB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4840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8C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8C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F0D249C1-C6D9-4551-B77E-B44B09B4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7713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550C473E-9000-40DF-971F-F658F6C6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667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BE6DA"/>
                </a:solidFill>
                <a:latin typeface="Aptos"/>
                <a:ea typeface="Aptos"/>
                <a:cs typeface="Aptos"/>
              </a:rPr>
              <a:t>SOLUCAO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29B40-B9BB-4394-8BF1-3E4EDAE2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23950"/>
            <a:ext cx="723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AF0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AF0"/>
                </a:solidFill>
                <a:latin typeface="Aptos Display"/>
                <a:ea typeface="Aptos Display"/>
                <a:cs typeface="Aptos Display"/>
              </a:rPr>
              <a:t>Cada transicao vira evidencia. A evidencia vira metrica.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B2376F-5B0D-4DC6-9AAC-7BABE6D35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685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BE6DA"/>
                </a:solidFill>
                <a:latin typeface="Aptos"/>
                <a:ea typeface="Aptos"/>
                <a:cs typeface="Aptos"/>
              </a:rPr>
              <a:t>A FlowMetrics nao pede preenchimento manual de relatorio. Ela observa o fluxo do quadro e calcula indicadores automaticamente.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97248-871B-49FD-A64F-99F52271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8620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A395D-FC2D-46DE-BE3B-EA2861E5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33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444FA1-6453-4C3C-AEEC-FA85F05B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386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8B9FD-F4D7-4788-A2D2-A9FFFABD5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386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tarefa criada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E11995-55DF-4B3E-970D-09C5211F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38650"/>
            <a:ext cx="7143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9F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A4C45-3B2E-46C1-995B-B5699D4E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8620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331359-0B5A-475D-9C8C-151B4C9D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133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5E3083-B5DC-460B-ADFD-ABDE3C4B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0386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Transicao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A3F170-79D3-4A85-B403-795BCF38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4386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timestamp gravado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F27B33-F5F1-4FF5-B287-776237D9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38650"/>
            <a:ext cx="7143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9F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5911D0-3A87-4404-B240-E7237AFFA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8620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E0A1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A0FC08-57A1-4A6A-B4B0-F9863583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133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55ED97-87EE-4034-B2B8-D43450B2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386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Metricas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AC8700-E781-4EF8-AF1A-509EBCCD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386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lead, cycle, throughput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2FD58A-3B6A-4850-BA4B-0E40371D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38650"/>
            <a:ext cx="714375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9F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12E1F1-CB26-4D49-8F96-E918EC71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886200"/>
            <a:ext cx="2000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64E986-7A16-4767-8995-4692D759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133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5D94B1-5577-4651-8BAB-53BD0678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03860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Decisao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F53571-20B5-4370-8D72-73514943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6425" y="4438650"/>
            <a:ext cx="1219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gargalo visivel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CEFE8C-84F8-448A-8270-62841341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DBE6DA"/>
                </a:solidFill>
                <a:latin typeface="Aptos"/>
                <a:ea typeface="Aptos"/>
                <a:cs typeface="Aptos"/>
              </a:rPr>
              <a:t>Resultado esperado: menos achismo e mais gestao por fluxo.</a:t>
            </a:r>
          </a:p>
        </p:txBody>
      </p:sp>
    </p:spTree>
    <p:extLst>
      <p:ext uri="{BB962C8B-B14F-4D97-AF65-F5344CB8AC3E}">
        <p14:creationId xmlns:p14="http://schemas.microsoft.com/office/powerpoint/2010/main" val="77139855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970255-3880-40A7-A09D-E278EE487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E84EA4-2613-45BB-8ECA-8F2BCC027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113157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A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F4A69-E575-44B3-BF42-ED08E40B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48400"/>
            <a:ext cx="571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FlowMetrics MVP | Gerencia e Arquitetura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1C3DBB-982A-4FCE-B13A-9F273F2D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4840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3A3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9FA72921-29A4-443F-8554-662E5B48A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8663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EFFD582C-9A27-4BD6-AE4A-2D514D95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4770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3A33"/>
                </a:solidFill>
                <a:latin typeface="Aptos"/>
                <a:ea typeface="Aptos"/>
                <a:cs typeface="Aptos"/>
              </a:rPr>
              <a:t>MVP EXECUTAVEL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B14C3-B87A-4BF5-A056-5AAADA54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8048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A entrega agora roda na stack definida: Next.js, FastAPI e PostgreSQL.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68D1C-6BC4-4EBB-B5CB-787029B2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2286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94D281-EDC3-4EBB-8FDD-D6E3F58D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D3E0C6-003E-4981-B0C9-A978E329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1943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FRONTEND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BC958E-BB98-4B87-B2ED-0F7E2D91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Next.js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9BEC88-01E0-44CC-9DBC-293F459C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React + TypeScript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A0F15B-0F13-47D7-8576-0BF07F0F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0"/>
            <a:ext cx="2286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045F61-DA7C-43B2-9D1A-710BC714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47A6D0-6B8B-4362-9789-EED7700F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52700"/>
            <a:ext cx="1943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BACKEND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39F04C-052F-47F4-857D-9DD44623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81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FastAPI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F9E5D-0AAC-4EBE-9BEF-E6C5B741A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8135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rotas + Pydantic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96E223-0A72-40E9-8BFB-C038962E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81250"/>
            <a:ext cx="2286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08BED4-0013-4079-90C2-D087BAEE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812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2832FF-F6BA-441C-AB66-8DE246E2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552700"/>
            <a:ext cx="1943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BANCO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C8DE6D-5155-486D-9B88-B42CE4E5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81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PostgreSQL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DB317-A86E-4A28-9A55-5DB408DD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18135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cards + transicoes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1C20E7-7E71-4C97-8FBF-FFB2C360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2286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B15277-F9E8-4623-BEF1-0CE79859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0D942A-AFB2-41AE-9AA6-5F877AFE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52700"/>
            <a:ext cx="1943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F7D75"/>
                </a:solidFill>
                <a:latin typeface="Aptos"/>
                <a:ea typeface="Aptos"/>
                <a:cs typeface="Aptos"/>
              </a:rPr>
              <a:t>INFRA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C34B02-C88C-46D6-9B81-EEB225B8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81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Compose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122C84-BFE0-4E7B-9880-6E134692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81350"/>
            <a:ext cx="1943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postgres, api, web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54B0E0-5F84-405A-BE9C-91DCCBC9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9906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969858-7FD0-4ECD-94ED-6746A254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914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3A33"/>
                </a:solidFill>
                <a:latin typeface="Aptos"/>
                <a:ea typeface="Aptos"/>
                <a:cs typeface="Aptos"/>
              </a:rPr>
              <a:t>Demonstre em sala: abrir http://localhost:3000, mover um card, criar um novo card e mostrar auditoria/metricas atualizando a partir da API.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675A62-7608-412C-B6A9-E8C5E74D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673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A pasta `mvp/` ficou apenas como fallback estatico; a entrega principal esta em `apps/web`, `apps/api` e `infra`.</a:t>
            </a:r>
          </a:p>
        </p:txBody>
      </p:sp>
    </p:spTree>
    <p:extLst>
      <p:ext uri="{BB962C8B-B14F-4D97-AF65-F5344CB8AC3E}">
        <p14:creationId xmlns:p14="http://schemas.microsoft.com/office/powerpoint/2010/main" val="95796111"/>
      </p:ext>
    </p:extLst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31F"/>
          </a:solidFill>
          <a:ln w="0">
            <a:noFill/>
          </a:ln>
        </p:spPr>
      </p:sp>
      <p:sp>
        <p:nvSpPr>
          <p:cNvPr id="3" name="shape"/>
          <p:cNvSpPr/>
          <p:nvPr/>
        </p:nvSpPr>
        <p:spPr>
          <a:xfrm>
            <a:off x="502920" y="347472"/>
            <a:ext cx="1828800" cy="20116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1000" b="1">
                <a:solidFill>
                  <a:srgbClr val="8BE9D6"/>
                </a:solidFill>
                <a:latin typeface="Aptos"/>
              </a:rPr>
              <a:t>05 | ARQUITETURA DO MVP</a:t>
            </a:r>
            <a:endParaRPr lang="pt-BR" sz="1000"/>
          </a:p>
        </p:txBody>
      </p:sp>
      <p:sp>
        <p:nvSpPr>
          <p:cNvPr id="4" name="shape"/>
          <p:cNvSpPr/>
          <p:nvPr/>
        </p:nvSpPr>
        <p:spPr>
          <a:xfrm>
            <a:off x="502920" y="658368"/>
            <a:ext cx="6858000" cy="56692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2700" b="1">
                <a:solidFill>
                  <a:srgbClr val="FFFFFF"/>
                </a:solidFill>
                <a:latin typeface="Aptos"/>
              </a:rPr>
              <a:t>A solucao separa experiencia, regras e dados do fluxo.</a:t>
            </a:r>
            <a:endParaRPr lang="pt-BR" sz="2700"/>
          </a:p>
        </p:txBody>
      </p:sp>
      <p:sp>
        <p:nvSpPr>
          <p:cNvPr id="5" name="shape"/>
          <p:cNvSpPr/>
          <p:nvPr/>
        </p:nvSpPr>
        <p:spPr>
          <a:xfrm>
            <a:off x="8092440" y="420624"/>
            <a:ext cx="3429000" cy="566928"/>
          </a:xfrm>
          <a:prstGeom prst="roundRect">
            <a:avLst/>
          </a:prstGeom>
          <a:solidFill>
            <a:srgbClr val="FFFFFF">
              <a:alpha val="18000"/>
            </a:srgbClr>
          </a:solidFill>
          <a:ln w="12700">
            <a:solidFill>
              <a:srgbClr val="5B6B7E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200" b="1">
                <a:solidFill>
                  <a:srgbClr val="F4EFE4"/>
                </a:solidFill>
                <a:latin typeface="Aptos"/>
              </a:rPr>
              <a:t>MVP atual</a:t>
            </a:r>
            <a:endParaRPr lang="pt-BR" sz="1200"/>
          </a:p>
          <a:p>
            <a:pPr algn="ctr"/>
            <a:r>
              <a:rPr lang="pt-BR" sz="1200" b="1">
                <a:solidFill>
                  <a:srgbClr val="F4EFE4"/>
                </a:solidFill>
                <a:latin typeface="Aptos"/>
              </a:rPr>
              <a:t>Next.js + FastAPI + PostgreSQL</a:t>
            </a:r>
            <a:endParaRPr lang="pt-BR" sz="1200"/>
          </a:p>
        </p:txBody>
      </p:sp>
      <p:sp>
        <p:nvSpPr>
          <p:cNvPr id="6" name="shape"/>
          <p:cNvSpPr/>
          <p:nvPr/>
        </p:nvSpPr>
        <p:spPr>
          <a:xfrm>
            <a:off x="658368" y="1481328"/>
            <a:ext cx="1645920" cy="320040"/>
          </a:xfrm>
          <a:prstGeom prst="roundRect">
            <a:avLst/>
          </a:prstGeom>
          <a:solidFill>
            <a:srgbClr val="23C98F">
              <a:alpha val="82000"/>
            </a:srgbClr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00" b="1">
                <a:solidFill>
                  <a:srgbClr val="B9FFF0"/>
                </a:solidFill>
                <a:latin typeface="Aptos"/>
              </a:rPr>
              <a:t>USUARIO</a:t>
            </a:r>
            <a:endParaRPr lang="pt-BR" sz="1000"/>
          </a:p>
        </p:txBody>
      </p:sp>
      <p:sp>
        <p:nvSpPr>
          <p:cNvPr id="7" name="shape"/>
          <p:cNvSpPr/>
          <p:nvPr/>
        </p:nvSpPr>
        <p:spPr>
          <a:xfrm>
            <a:off x="2487168" y="1207008"/>
            <a:ext cx="2011680" cy="320040"/>
          </a:xfrm>
          <a:prstGeom prst="roundRect">
            <a:avLst/>
          </a:prstGeom>
          <a:solidFill>
            <a:srgbClr val="2BD3FF">
              <a:alpha val="82000"/>
            </a:srgbClr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00" b="1">
                <a:solidFill>
                  <a:srgbClr val="DDFBFF"/>
                </a:solidFill>
                <a:latin typeface="Aptos"/>
              </a:rPr>
              <a:t>FRONTEND</a:t>
            </a:r>
            <a:endParaRPr lang="pt-BR" sz="1000"/>
          </a:p>
        </p:txBody>
      </p:sp>
      <p:sp>
        <p:nvSpPr>
          <p:cNvPr id="8" name="shape"/>
          <p:cNvSpPr/>
          <p:nvPr/>
        </p:nvSpPr>
        <p:spPr>
          <a:xfrm>
            <a:off x="4828032" y="1207008"/>
            <a:ext cx="2999232" cy="320040"/>
          </a:xfrm>
          <a:prstGeom prst="roundRect">
            <a:avLst/>
          </a:prstGeom>
          <a:solidFill>
            <a:srgbClr val="FFC857">
              <a:alpha val="82000"/>
            </a:srgbClr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00" b="1">
                <a:solidFill>
                  <a:srgbClr val="FFF0BB"/>
                </a:solidFill>
                <a:latin typeface="Aptos"/>
              </a:rPr>
              <a:t>BACKEND + REGRAS</a:t>
            </a:r>
            <a:endParaRPr lang="pt-BR" sz="1000"/>
          </a:p>
        </p:txBody>
      </p:sp>
      <p:sp>
        <p:nvSpPr>
          <p:cNvPr id="9" name="shape"/>
          <p:cNvSpPr/>
          <p:nvPr/>
        </p:nvSpPr>
        <p:spPr>
          <a:xfrm>
            <a:off x="8430768" y="1481328"/>
            <a:ext cx="2514600" cy="320040"/>
          </a:xfrm>
          <a:prstGeom prst="roundRect">
            <a:avLst/>
          </a:prstGeom>
          <a:solidFill>
            <a:srgbClr val="FF5A8A">
              <a:alpha val="82000"/>
            </a:srgbClr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00" b="1">
                <a:solidFill>
                  <a:srgbClr val="FFE2EA"/>
                </a:solidFill>
                <a:latin typeface="Aptos"/>
              </a:rPr>
              <a:t>DADOS</a:t>
            </a:r>
            <a:endParaRPr lang="pt-BR" sz="1000"/>
          </a:p>
        </p:txBody>
      </p:sp>
      <p:sp>
        <p:nvSpPr>
          <p:cNvPr id="10" name="shape"/>
          <p:cNvSpPr/>
          <p:nvPr/>
        </p:nvSpPr>
        <p:spPr>
          <a:xfrm>
            <a:off x="658368" y="1993392"/>
            <a:ext cx="1645920" cy="914400"/>
          </a:xfrm>
          <a:prstGeom prst="roundRect">
            <a:avLst/>
          </a:prstGeom>
          <a:solidFill>
            <a:srgbClr val="F4EFE4"/>
          </a:solidFill>
          <a:ln w="12700">
            <a:solidFill>
              <a:srgbClr val="8BE9D6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600" b="1">
                <a:solidFill>
                  <a:srgbClr val="10231F"/>
                </a:solidFill>
                <a:latin typeface="Aptos"/>
              </a:rPr>
              <a:t>Gestor</a:t>
            </a:r>
            <a:endParaRPr lang="pt-BR" sz="1600"/>
          </a:p>
          <a:p>
            <a:pPr algn="ctr"/>
            <a:r>
              <a:rPr lang="pt-BR" sz="1600" b="1">
                <a:solidFill>
                  <a:srgbClr val="10231F"/>
                </a:solidFill>
                <a:latin typeface="Aptos"/>
              </a:rPr>
              <a:t>navegador</a:t>
            </a:r>
            <a:endParaRPr lang="pt-BR" sz="1600"/>
          </a:p>
        </p:txBody>
      </p:sp>
      <p:sp>
        <p:nvSpPr>
          <p:cNvPr id="11" name="shape"/>
          <p:cNvSpPr/>
          <p:nvPr/>
        </p:nvSpPr>
        <p:spPr>
          <a:xfrm>
            <a:off x="2578608" y="1737360"/>
            <a:ext cx="1874520" cy="1115568"/>
          </a:xfrm>
          <a:prstGeom prst="roundRect">
            <a:avLst/>
          </a:prstGeom>
          <a:solidFill>
            <a:srgbClr val="163B4A"/>
          </a:solidFill>
          <a:ln w="12700">
            <a:solidFill>
              <a:srgbClr val="2BD3FF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Aptos"/>
              </a:rPr>
              <a:t>Next.js</a:t>
            </a:r>
            <a:endParaRPr lang="pt-BR" sz="1400"/>
          </a:p>
          <a:p>
            <a:pPr algn="ctr"/>
            <a:r>
              <a:rPr lang="pt-BR" sz="1400" b="1">
                <a:solidFill>
                  <a:srgbClr val="FFFFFF"/>
                </a:solidFill>
                <a:latin typeface="Aptos"/>
              </a:rPr>
              <a:t>apps/web</a:t>
            </a:r>
            <a:endParaRPr lang="pt-BR" sz="1400"/>
          </a:p>
          <a:p>
            <a:pPr algn="ctr"/>
            <a:r>
              <a:rPr lang="pt-BR" sz="1400" b="1">
                <a:solidFill>
                  <a:srgbClr val="FFFFFF"/>
                </a:solidFill>
                <a:latin typeface="Aptos"/>
              </a:rPr>
              <a:t>React + TypeScript</a:t>
            </a:r>
            <a:endParaRPr lang="pt-BR" sz="1400"/>
          </a:p>
        </p:txBody>
      </p:sp>
      <p:sp>
        <p:nvSpPr>
          <p:cNvPr id="12" name="shape"/>
          <p:cNvSpPr/>
          <p:nvPr/>
        </p:nvSpPr>
        <p:spPr>
          <a:xfrm>
            <a:off x="4919472" y="1737360"/>
            <a:ext cx="1938528" cy="1115568"/>
          </a:xfrm>
          <a:prstGeom prst="roundRect">
            <a:avLst/>
          </a:prstGeom>
          <a:solidFill>
            <a:srgbClr val="3D3222"/>
          </a:solidFill>
          <a:ln w="12700">
            <a:solidFill>
              <a:srgbClr val="FFC857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400" b="1">
                <a:solidFill>
                  <a:srgbClr val="FFFFFF"/>
                </a:solidFill>
                <a:latin typeface="Aptos"/>
              </a:rPr>
              <a:t>FastAPI</a:t>
            </a:r>
            <a:endParaRPr lang="pt-BR" sz="1400"/>
          </a:p>
          <a:p>
            <a:pPr algn="ctr"/>
            <a:r>
              <a:rPr lang="pt-BR" sz="1400" b="1">
                <a:solidFill>
                  <a:srgbClr val="FFFFFF"/>
                </a:solidFill>
                <a:latin typeface="Aptos"/>
              </a:rPr>
              <a:t>apps/api</a:t>
            </a:r>
            <a:endParaRPr lang="pt-BR" sz="1400"/>
          </a:p>
          <a:p>
            <a:pPr algn="ctr"/>
            <a:r>
              <a:rPr lang="pt-BR" sz="1400" b="1">
                <a:solidFill>
                  <a:srgbClr val="FFFFFF"/>
                </a:solidFill>
                <a:latin typeface="Aptos"/>
              </a:rPr>
              <a:t>rotas + Pydantic</a:t>
            </a:r>
            <a:endParaRPr lang="pt-BR" sz="1400"/>
          </a:p>
        </p:txBody>
      </p:sp>
      <p:sp>
        <p:nvSpPr>
          <p:cNvPr id="13" name="shape"/>
          <p:cNvSpPr/>
          <p:nvPr/>
        </p:nvSpPr>
        <p:spPr>
          <a:xfrm>
            <a:off x="7333488" y="1737360"/>
            <a:ext cx="1371600" cy="1115568"/>
          </a:xfrm>
          <a:prstGeom prst="roundRect">
            <a:avLst/>
          </a:prstGeom>
          <a:solidFill>
            <a:srgbClr val="3D3222"/>
          </a:solidFill>
          <a:ln w="12700">
            <a:solidFill>
              <a:srgbClr val="FFC857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300" b="1">
                <a:solidFill>
                  <a:srgbClr val="FFFFFF"/>
                </a:solidFill>
                <a:latin typeface="Aptos"/>
              </a:rPr>
              <a:t>CRUD</a:t>
            </a:r>
            <a:endParaRPr lang="pt-BR" sz="1300"/>
          </a:p>
          <a:p>
            <a:pPr algn="ctr"/>
            <a:r>
              <a:rPr lang="pt-BR" sz="1300" b="1">
                <a:solidFill>
                  <a:srgbClr val="FFFFFF"/>
                </a:solidFill>
                <a:latin typeface="Aptos"/>
              </a:rPr>
              <a:t>cards +</a:t>
            </a:r>
            <a:endParaRPr lang="pt-BR" sz="1300"/>
          </a:p>
          <a:p>
            <a:pPr algn="ctr"/>
            <a:r>
              <a:rPr lang="pt-BR" sz="1300" b="1">
                <a:solidFill>
                  <a:srgbClr val="FFFFFF"/>
                </a:solidFill>
                <a:latin typeface="Aptos"/>
              </a:rPr>
              <a:t>usuarios</a:t>
            </a:r>
            <a:endParaRPr lang="pt-BR" sz="1300"/>
          </a:p>
        </p:txBody>
      </p:sp>
      <p:sp>
        <p:nvSpPr>
          <p:cNvPr id="14" name="shape"/>
          <p:cNvSpPr/>
          <p:nvPr/>
        </p:nvSpPr>
        <p:spPr>
          <a:xfrm>
            <a:off x="9189720" y="1993392"/>
            <a:ext cx="1901952" cy="960120"/>
          </a:xfrm>
          <a:prstGeom prst="roundRect">
            <a:avLst/>
          </a:prstGeom>
          <a:solidFill>
            <a:srgbClr val="451E33"/>
          </a:solidFill>
          <a:ln w="12700">
            <a:solidFill>
              <a:srgbClr val="FF5A8A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500" b="1">
                <a:solidFill>
                  <a:srgbClr val="FFFFFF"/>
                </a:solidFill>
                <a:latin typeface="Aptos"/>
              </a:rPr>
              <a:t>PostgreSQL 16</a:t>
            </a:r>
            <a:endParaRPr lang="pt-BR" sz="1500"/>
          </a:p>
          <a:p>
            <a:pPr algn="ctr"/>
            <a:r>
              <a:rPr lang="pt-BR" sz="1500" b="1">
                <a:solidFill>
                  <a:srgbClr val="FFFFFF"/>
                </a:solidFill>
                <a:latin typeface="Aptos"/>
              </a:rPr>
              <a:t>fonte da verdade</a:t>
            </a:r>
            <a:endParaRPr lang="pt-BR" sz="1500"/>
          </a:p>
        </p:txBody>
      </p:sp>
      <p:sp>
        <p:nvSpPr>
          <p:cNvPr id="15" name="shape"/>
          <p:cNvSpPr/>
          <p:nvPr/>
        </p:nvSpPr>
        <p:spPr>
          <a:xfrm>
            <a:off x="2221992" y="2313432"/>
            <a:ext cx="292608" cy="237744"/>
          </a:xfrm>
          <a:prstGeom prst="rightArrow">
            <a:avLst/>
          </a:prstGeom>
          <a:solidFill>
            <a:srgbClr val="8BE9D6"/>
          </a:solidFill>
          <a:ln w="0">
            <a:noFill/>
          </a:ln>
        </p:spPr>
      </p:sp>
      <p:sp>
        <p:nvSpPr>
          <p:cNvPr id="16" name="shape"/>
          <p:cNvSpPr/>
          <p:nvPr/>
        </p:nvSpPr>
        <p:spPr>
          <a:xfrm>
            <a:off x="4498848" y="2221992"/>
            <a:ext cx="347472" cy="237744"/>
          </a:xfrm>
          <a:prstGeom prst="rightArrow">
            <a:avLst/>
          </a:prstGeom>
          <a:solidFill>
            <a:srgbClr val="2BD3FF"/>
          </a:solidFill>
          <a:ln w="0">
            <a:noFill/>
          </a:ln>
        </p:spPr>
      </p:sp>
      <p:sp>
        <p:nvSpPr>
          <p:cNvPr id="17" name="shape"/>
          <p:cNvSpPr/>
          <p:nvPr/>
        </p:nvSpPr>
        <p:spPr>
          <a:xfrm>
            <a:off x="6931152" y="2221992"/>
            <a:ext cx="347472" cy="237744"/>
          </a:xfrm>
          <a:prstGeom prst="rightArrow">
            <a:avLst/>
          </a:prstGeom>
          <a:solidFill>
            <a:srgbClr val="FFC857"/>
          </a:solidFill>
          <a:ln w="0">
            <a:noFill/>
          </a:ln>
        </p:spPr>
      </p:sp>
      <p:sp>
        <p:nvSpPr>
          <p:cNvPr id="18" name="shape"/>
          <p:cNvSpPr/>
          <p:nvPr/>
        </p:nvSpPr>
        <p:spPr>
          <a:xfrm>
            <a:off x="8741664" y="2331720"/>
            <a:ext cx="347472" cy="237744"/>
          </a:xfrm>
          <a:prstGeom prst="rightArrow">
            <a:avLst/>
          </a:prstGeom>
          <a:solidFill>
            <a:srgbClr val="FF5A8A"/>
          </a:solidFill>
          <a:ln w="0">
            <a:noFill/>
          </a:ln>
        </p:spPr>
      </p:sp>
      <p:sp>
        <p:nvSpPr>
          <p:cNvPr id="19" name="shape"/>
          <p:cNvSpPr/>
          <p:nvPr/>
        </p:nvSpPr>
        <p:spPr>
          <a:xfrm>
            <a:off x="5138928" y="2926080"/>
            <a:ext cx="256032" cy="658368"/>
          </a:xfrm>
          <a:prstGeom prst="downArrow">
            <a:avLst/>
          </a:prstGeom>
          <a:solidFill>
            <a:srgbClr val="FFC857"/>
          </a:solidFill>
          <a:ln w="0">
            <a:noFill/>
          </a:ln>
        </p:spPr>
      </p:sp>
      <p:sp>
        <p:nvSpPr>
          <p:cNvPr id="20" name="shape"/>
          <p:cNvSpPr/>
          <p:nvPr/>
        </p:nvSpPr>
        <p:spPr>
          <a:xfrm>
            <a:off x="6812280" y="2926080"/>
            <a:ext cx="256032" cy="658368"/>
          </a:xfrm>
          <a:prstGeom prst="downArrow">
            <a:avLst/>
          </a:prstGeom>
          <a:solidFill>
            <a:srgbClr val="FFC857"/>
          </a:solidFill>
          <a:ln w="0">
            <a:noFill/>
          </a:ln>
        </p:spPr>
      </p:sp>
      <p:sp>
        <p:nvSpPr>
          <p:cNvPr id="21" name="shape"/>
          <p:cNvSpPr/>
          <p:nvPr/>
        </p:nvSpPr>
        <p:spPr>
          <a:xfrm>
            <a:off x="8065008" y="4050792"/>
            <a:ext cx="420624" cy="237744"/>
          </a:xfrm>
          <a:prstGeom prst="rightArrow">
            <a:avLst/>
          </a:prstGeom>
          <a:solidFill>
            <a:srgbClr val="FF5A8A"/>
          </a:solidFill>
          <a:ln w="0">
            <a:noFill/>
          </a:ln>
        </p:spPr>
      </p:sp>
      <p:sp>
        <p:nvSpPr>
          <p:cNvPr id="22" name="shape"/>
          <p:cNvSpPr/>
          <p:nvPr/>
        </p:nvSpPr>
        <p:spPr>
          <a:xfrm>
            <a:off x="4187952" y="3703320"/>
            <a:ext cx="1783080" cy="96012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C857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200" b="1">
                <a:solidFill>
                  <a:srgbClr val="FFF3C4"/>
                </a:solidFill>
                <a:latin typeface="Aptos"/>
              </a:rPr>
              <a:t>Metrics Service</a:t>
            </a:r>
            <a:endParaRPr lang="pt-BR" sz="1200"/>
          </a:p>
          <a:p>
            <a:pPr algn="ctr"/>
            <a:r>
              <a:rPr lang="pt-BR" sz="1200" b="1">
                <a:solidFill>
                  <a:srgbClr val="FFF3C4"/>
                </a:solidFill>
                <a:latin typeface="Aptos"/>
              </a:rPr>
              <a:t>lead/cycle time</a:t>
            </a:r>
            <a:endParaRPr lang="pt-BR" sz="1200"/>
          </a:p>
          <a:p>
            <a:pPr algn="ctr"/>
            <a:r>
              <a:rPr lang="pt-BR" sz="1200" b="1">
                <a:solidFill>
                  <a:srgbClr val="FFF3C4"/>
                </a:solidFill>
                <a:latin typeface="Aptos"/>
              </a:rPr>
              <a:t>throughput, gargalo</a:t>
            </a:r>
            <a:endParaRPr lang="pt-BR" sz="1200"/>
          </a:p>
        </p:txBody>
      </p:sp>
      <p:sp>
        <p:nvSpPr>
          <p:cNvPr id="23" name="shape"/>
          <p:cNvSpPr/>
          <p:nvPr/>
        </p:nvSpPr>
        <p:spPr>
          <a:xfrm>
            <a:off x="6236208" y="3703320"/>
            <a:ext cx="1783080" cy="96012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C857"/>
            </a:solidFill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200" b="1">
                <a:solidFill>
                  <a:srgbClr val="FFF3C4"/>
                </a:solidFill>
                <a:latin typeface="Aptos"/>
              </a:rPr>
              <a:t>Repository</a:t>
            </a:r>
            <a:endParaRPr lang="pt-BR" sz="1200"/>
          </a:p>
          <a:p>
            <a:pPr algn="ctr"/>
            <a:r>
              <a:rPr lang="pt-BR" sz="1200" b="1">
                <a:solidFill>
                  <a:srgbClr val="FFF3C4"/>
                </a:solidFill>
                <a:latin typeface="Aptos"/>
              </a:rPr>
              <a:t>SQL explicito</a:t>
            </a:r>
            <a:endParaRPr lang="pt-BR" sz="1200"/>
          </a:p>
          <a:p>
            <a:pPr algn="ctr"/>
            <a:r>
              <a:rPr lang="pt-BR" sz="1200" b="1">
                <a:solidFill>
                  <a:srgbClr val="FFF3C4"/>
                </a:solidFill>
                <a:latin typeface="Aptos"/>
              </a:rPr>
              <a:t>transacoes</a:t>
            </a:r>
            <a:endParaRPr lang="pt-BR" sz="1200"/>
          </a:p>
        </p:txBody>
      </p:sp>
      <p:sp>
        <p:nvSpPr>
          <p:cNvPr id="24" name="shape"/>
          <p:cNvSpPr/>
          <p:nvPr/>
        </p:nvSpPr>
        <p:spPr>
          <a:xfrm>
            <a:off x="8613648" y="3767328"/>
            <a:ext cx="2670048" cy="1554480"/>
          </a:xfrm>
          <a:prstGeom prst="roundRect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5A8A"/>
            </a:solidFill>
          </a:ln>
        </p:spPr>
      </p:sp>
      <p:sp>
        <p:nvSpPr>
          <p:cNvPr id="25" name="shape"/>
          <p:cNvSpPr/>
          <p:nvPr/>
        </p:nvSpPr>
        <p:spPr>
          <a:xfrm>
            <a:off x="8796528" y="3904488"/>
            <a:ext cx="2240280" cy="256032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1100" b="1">
                <a:solidFill>
                  <a:srgbClr val="FFC2D4"/>
                </a:solidFill>
                <a:latin typeface="Aptos"/>
              </a:rPr>
              <a:t>Modelo persistido</a:t>
            </a:r>
            <a:endParaRPr lang="pt-BR" sz="1100"/>
          </a:p>
        </p:txBody>
      </p:sp>
      <p:sp>
        <p:nvSpPr>
          <p:cNvPr id="26" name="shape"/>
          <p:cNvSpPr/>
          <p:nvPr/>
        </p:nvSpPr>
        <p:spPr>
          <a:xfrm>
            <a:off x="8851392" y="4279392"/>
            <a:ext cx="841248" cy="292608"/>
          </a:xfrm>
          <a:prstGeom prst="roundRect">
            <a:avLst/>
          </a:prstGeom>
          <a:solidFill>
            <a:srgbClr val="23C98F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100" b="1">
                <a:solidFill>
                  <a:srgbClr val="10231F"/>
                </a:solidFill>
                <a:latin typeface="Aptos"/>
              </a:rPr>
              <a:t>users</a:t>
            </a:r>
            <a:endParaRPr lang="pt-BR" sz="1100"/>
          </a:p>
        </p:txBody>
      </p:sp>
      <p:sp>
        <p:nvSpPr>
          <p:cNvPr id="27" name="shape"/>
          <p:cNvSpPr/>
          <p:nvPr/>
        </p:nvSpPr>
        <p:spPr>
          <a:xfrm>
            <a:off x="9802368" y="4279392"/>
            <a:ext cx="841248" cy="292608"/>
          </a:xfrm>
          <a:prstGeom prst="roundRect">
            <a:avLst/>
          </a:prstGeom>
          <a:solidFill>
            <a:srgbClr val="2BD3FF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100" b="1">
                <a:solidFill>
                  <a:srgbClr val="10231F"/>
                </a:solidFill>
                <a:latin typeface="Aptos"/>
              </a:rPr>
              <a:t>cards</a:t>
            </a:r>
            <a:endParaRPr lang="pt-BR" sz="1100"/>
          </a:p>
        </p:txBody>
      </p:sp>
      <p:sp>
        <p:nvSpPr>
          <p:cNvPr id="28" name="shape"/>
          <p:cNvSpPr/>
          <p:nvPr/>
        </p:nvSpPr>
        <p:spPr>
          <a:xfrm>
            <a:off x="8851392" y="4681728"/>
            <a:ext cx="1792224" cy="292608"/>
          </a:xfrm>
          <a:prstGeom prst="roundRect">
            <a:avLst/>
          </a:prstGeom>
          <a:solidFill>
            <a:srgbClr val="FF5A8A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00" b="1">
                <a:solidFill>
                  <a:srgbClr val="FFFFFF"/>
                </a:solidFill>
                <a:latin typeface="Aptos"/>
              </a:rPr>
              <a:t>card_transitions</a:t>
            </a:r>
            <a:endParaRPr lang="pt-BR" sz="1000"/>
          </a:p>
        </p:txBody>
      </p:sp>
      <p:sp>
        <p:nvSpPr>
          <p:cNvPr id="29" name="shape"/>
          <p:cNvSpPr/>
          <p:nvPr/>
        </p:nvSpPr>
        <p:spPr>
          <a:xfrm>
            <a:off x="8851392" y="5074920"/>
            <a:ext cx="2011680" cy="20116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900" b="0">
                <a:solidFill>
                  <a:srgbClr val="F4EFE4"/>
                </a:solidFill>
                <a:latin typeface="Aptos"/>
              </a:rPr>
              <a:t>historico alimenta as metricas</a:t>
            </a:r>
            <a:endParaRPr lang="pt-BR" sz="900"/>
          </a:p>
        </p:txBody>
      </p:sp>
      <p:sp>
        <p:nvSpPr>
          <p:cNvPr id="30" name="shape"/>
          <p:cNvSpPr/>
          <p:nvPr/>
        </p:nvSpPr>
        <p:spPr>
          <a:xfrm>
            <a:off x="658368" y="5632704"/>
            <a:ext cx="10497312" cy="585216"/>
          </a:xfrm>
          <a:prstGeom prst="round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5B6B7E"/>
            </a:solidFill>
          </a:ln>
        </p:spPr>
      </p:sp>
      <p:sp>
        <p:nvSpPr>
          <p:cNvPr id="31" name="shape"/>
          <p:cNvSpPr/>
          <p:nvPr/>
        </p:nvSpPr>
        <p:spPr>
          <a:xfrm>
            <a:off x="868680" y="5769864"/>
            <a:ext cx="1417320" cy="228600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1100" b="1">
                <a:solidFill>
                  <a:srgbClr val="8BE9D6"/>
                </a:solidFill>
                <a:latin typeface="Aptos"/>
              </a:rPr>
              <a:t>Deploy do MVP</a:t>
            </a:r>
            <a:endParaRPr lang="pt-BR" sz="1100"/>
          </a:p>
        </p:txBody>
      </p:sp>
      <p:sp>
        <p:nvSpPr>
          <p:cNvPr id="32" name="shape"/>
          <p:cNvSpPr/>
          <p:nvPr/>
        </p:nvSpPr>
        <p:spPr>
          <a:xfrm>
            <a:off x="2514600" y="5687568"/>
            <a:ext cx="2103120" cy="438912"/>
          </a:xfrm>
          <a:prstGeom prst="roundRect">
            <a:avLst/>
          </a:prstGeom>
          <a:solidFill>
            <a:srgbClr val="163B4A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300" b="1">
                <a:solidFill>
                  <a:srgbClr val="FFFFFF"/>
                </a:solidFill>
                <a:latin typeface="Aptos"/>
              </a:rPr>
              <a:t>web: /</a:t>
            </a:r>
            <a:endParaRPr lang="pt-BR" sz="1300"/>
          </a:p>
        </p:txBody>
      </p:sp>
      <p:sp>
        <p:nvSpPr>
          <p:cNvPr id="33" name="shape"/>
          <p:cNvSpPr/>
          <p:nvPr/>
        </p:nvSpPr>
        <p:spPr>
          <a:xfrm>
            <a:off x="4828032" y="5687568"/>
            <a:ext cx="2377440" cy="438912"/>
          </a:xfrm>
          <a:prstGeom prst="roundRect">
            <a:avLst/>
          </a:prstGeom>
          <a:solidFill>
            <a:srgbClr val="3D3222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300" b="1">
                <a:solidFill>
                  <a:srgbClr val="FFFFFF"/>
                </a:solidFill>
                <a:latin typeface="Aptos"/>
              </a:rPr>
              <a:t>backend: /_/backend</a:t>
            </a:r>
            <a:endParaRPr lang="pt-BR" sz="1300"/>
          </a:p>
        </p:txBody>
      </p:sp>
      <p:sp>
        <p:nvSpPr>
          <p:cNvPr id="34" name="shape"/>
          <p:cNvSpPr/>
          <p:nvPr/>
        </p:nvSpPr>
        <p:spPr>
          <a:xfrm>
            <a:off x="7424928" y="5687568"/>
            <a:ext cx="3401568" cy="438912"/>
          </a:xfrm>
          <a:prstGeom prst="roundRect">
            <a:avLst/>
          </a:prstGeom>
          <a:solidFill>
            <a:srgbClr val="451E33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200" b="1">
                <a:solidFill>
                  <a:srgbClr val="FFFFFF"/>
                </a:solidFill>
                <a:latin typeface="Aptos"/>
              </a:rPr>
              <a:t>DATABASE_URL aponta para Postgres externo</a:t>
            </a:r>
            <a:endParaRPr lang="pt-BR" sz="12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E11518-2246-4465-A6B6-97EF460B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C1B4C-FACE-48B7-B4BB-71D30918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113157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A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51704-C1EE-4578-8FE5-7A796F59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48400"/>
            <a:ext cx="571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FlowMetrics MVP | Gerencia e Arquitetura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E2B29-4251-4E69-8E7D-34675505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4840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3A3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CA0B6A9E-6D75-47E9-BDF0-3AE81B35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8663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D5DE0AD1-3BFD-4EC7-A325-FAD00503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4770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3A33"/>
                </a:solidFill>
                <a:latin typeface="Aptos"/>
                <a:ea typeface="Aptos"/>
                <a:cs typeface="Aptos"/>
              </a:rPr>
              <a:t>DADOS E METRICAS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007456-F784-46A7-A0FE-4B074C510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723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card_transitions e o dado central do produto.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3CA58-35D2-4EF3-8DF0-A5667BE43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33600"/>
            <a:ext cx="7048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53A3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53A33"/>
                </a:solidFill>
                <a:latin typeface="Aptos"/>
                <a:ea typeface="Aptos"/>
                <a:cs typeface="Aptos"/>
              </a:rPr>
              <a:t>Cada movimento grava origem, destino, horario e card. A partir disso, o servico calcula indicadores sem depender de preenchimento manual.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404E0B-BB7A-4BBB-A09F-14A4FA61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104900"/>
            <a:ext cx="32575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F0"/>
          </a:solidFill>
          <a:ln xmlns:a="http://schemas.openxmlformats.org/drawingml/2006/main" w="9525">
            <a:solidFill>
              <a:srgbClr val="D8CB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AC56D1-0291-488A-A801-B1535DE5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9065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Evento salvo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C4077-270F-4CFE-995A-15884213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716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F5F4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F5F4F"/>
                </a:solidFill>
                <a:latin typeface="Aptos"/>
                <a:ea typeface="Aptos"/>
                <a:cs typeface="Aptos"/>
              </a:rPr>
              <a:t>card_id</a:t>
            </a:r>
          </a:p>
          <a:p xmlns:a="http://schemas.openxmlformats.org/drawingml/2006/main">
            <a:pPr algn="l">
              <a:defRPr sz="1350" b="0">
                <a:solidFill>
                  <a:srgbClr val="2F5F4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F5F4F"/>
                </a:solidFill>
                <a:latin typeface="Aptos"/>
                <a:ea typeface="Aptos"/>
                <a:cs typeface="Aptos"/>
              </a:rPr>
              <a:t>from_column</a:t>
            </a:r>
          </a:p>
          <a:p xmlns:a="http://schemas.openxmlformats.org/drawingml/2006/main">
            <a:pPr algn="l">
              <a:defRPr sz="1350" b="0">
                <a:solidFill>
                  <a:srgbClr val="2F5F4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F5F4F"/>
                </a:solidFill>
                <a:latin typeface="Aptos"/>
                <a:ea typeface="Aptos"/>
                <a:cs typeface="Aptos"/>
              </a:rPr>
              <a:t>to_column</a:t>
            </a:r>
          </a:p>
          <a:p xmlns:a="http://schemas.openxmlformats.org/drawingml/2006/main">
            <a:pPr algn="l">
              <a:defRPr sz="1350" b="0">
                <a:solidFill>
                  <a:srgbClr val="2F5F4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F5F4F"/>
                </a:solidFill>
                <a:latin typeface="Aptos"/>
                <a:ea typeface="Aptos"/>
                <a:cs typeface="Aptos"/>
              </a:rPr>
              <a:t>moved_at</a:t>
            </a:r>
          </a:p>
          <a:p xmlns:a="http://schemas.openxmlformats.org/drawingml/2006/main">
            <a:pPr algn="l">
              <a:defRPr sz="1350" b="0">
                <a:solidFill>
                  <a:srgbClr val="2F5F4F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F5F4F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698EE-4FEE-49F4-A3C0-BC2CBE58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Lead Time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6BBF2D-F21F-4049-A062-2AD76ABF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48050"/>
            <a:ext cx="1571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503C18-D274-4D35-ABFB-6351A137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9090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created_at -&gt; primeira entrada em done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6C66D7-7F1E-4ED5-B140-DB0DA81C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Cycle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80E3F7-2228-4BF4-82F1-A3130BA6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000500"/>
            <a:ext cx="20859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957C77-2962-47D8-B573-73A7DBF4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433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primeira entrada em doing -&gt; done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F4514B-A1BB-4027-81C6-123EE45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Throughput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A95DB7-5CB8-4291-857F-79E12E0E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552950"/>
            <a:ext cx="2600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369A38-08C7-4B91-B6B7-75B6C163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9580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cards concluidos nos ultimos 7 dias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37EF50-6AB8-4237-9CFE-BAAABF1C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619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Gargalo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A80F0A-6FD9-4AA6-8614-1202F559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105400"/>
            <a:ext cx="3114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C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13E70D-9D0B-4DDC-B93F-BDC3D905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48250"/>
            <a:ext cx="428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maior permanencia media por coluna</a:t>
            </a:r>
          </a:p>
        </p:txBody>
      </p:sp>
    </p:spTree>
    <p:extLst>
      <p:ext uri="{BB962C8B-B14F-4D97-AF65-F5344CB8AC3E}">
        <p14:creationId xmlns:p14="http://schemas.microsoft.com/office/powerpoint/2010/main" val="897467458"/>
      </p:ext>
    </p:extLst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4"/>
          </a:solidFill>
          <a:ln w="0">
            <a:noFill/>
          </a:ln>
        </p:spPr>
      </p:sp>
      <p:sp>
        <p:nvSpPr>
          <p:cNvPr id="3" name="shape"/>
          <p:cNvSpPr/>
          <p:nvPr/>
        </p:nvSpPr>
        <p:spPr>
          <a:xfrm>
            <a:off x="502920" y="347472"/>
            <a:ext cx="1508760" cy="20116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1000" b="1">
                <a:solidFill>
                  <a:srgbClr val="B9572E"/>
                </a:solidFill>
                <a:latin typeface="Aptos"/>
              </a:rPr>
              <a:t>07 | GANTT DO MVP</a:t>
            </a:r>
            <a:endParaRPr lang="pt-BR" sz="1000"/>
          </a:p>
        </p:txBody>
      </p:sp>
      <p:sp>
        <p:nvSpPr>
          <p:cNvPr id="4" name="shape"/>
          <p:cNvSpPr/>
          <p:nvPr/>
        </p:nvSpPr>
        <p:spPr>
          <a:xfrm>
            <a:off x="502920" y="658368"/>
            <a:ext cx="7223760" cy="56692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l"/>
            <a:r>
              <a:rPr lang="pt-BR" sz="2500" b="1">
                <a:solidFill>
                  <a:srgbClr val="10231F"/>
                </a:solidFill>
                <a:latin typeface="Aptos"/>
              </a:rPr>
              <a:t>O cronograma mostra as etapas e os meses percorridos ate a entrega.</a:t>
            </a:r>
            <a:endParaRPr lang="pt-BR" sz="2500"/>
          </a:p>
        </p:txBody>
      </p:sp>
      <p:sp>
        <p:nvSpPr>
          <p:cNvPr id="5" name="shape"/>
          <p:cNvSpPr/>
          <p:nvPr/>
        </p:nvSpPr>
        <p:spPr>
          <a:xfrm>
            <a:off x="8458200" y="420624"/>
            <a:ext cx="2788920" cy="566928"/>
          </a:xfrm>
          <a:prstGeom prst="roundRect">
            <a:avLst/>
          </a:prstGeom>
          <a:solidFill>
            <a:srgbClr val="10231F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200" b="1">
                <a:solidFill>
                  <a:srgbClr val="F4EFE4"/>
                </a:solidFill>
                <a:latin typeface="Aptos"/>
              </a:rPr>
              <a:t>Periodo executado</a:t>
            </a:r>
            <a:endParaRPr lang="pt-BR" sz="1200"/>
          </a:p>
          <a:p>
            <a:pPr algn="ctr"/>
            <a:r>
              <a:rPr lang="pt-BR" sz="1200" b="1">
                <a:solidFill>
                  <a:srgbClr val="F4EFE4"/>
                </a:solidFill>
                <a:latin typeface="Aptos"/>
              </a:rPr>
              <a:t>01/05 a 17/06/2026</a:t>
            </a:r>
            <a:endParaRPr lang="pt-BR" sz="1200"/>
          </a:p>
        </p:txBody>
      </p:sp>
      <p:sp>
        <p:nvSpPr>
          <p:cNvPr id="6" name="shape"/>
          <p:cNvSpPr/>
          <p:nvPr/>
        </p:nvSpPr>
        <p:spPr>
          <a:xfrm>
            <a:off x="2240280" y="1298448"/>
            <a:ext cx="5698808" cy="256032"/>
          </a:xfrm>
          <a:prstGeom prst="roundRect">
            <a:avLst/>
          </a:prstGeom>
          <a:solidFill>
            <a:srgbClr val="10231F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100" b="1">
                <a:solidFill>
                  <a:srgbClr val="F4EFE4"/>
                </a:solidFill>
                <a:latin typeface="Aptos"/>
              </a:rPr>
              <a:t>MAIO 2026</a:t>
            </a:r>
            <a:endParaRPr lang="pt-BR" sz="1100"/>
          </a:p>
        </p:txBody>
      </p:sp>
      <p:sp>
        <p:nvSpPr>
          <p:cNvPr id="7" name="shape"/>
          <p:cNvSpPr/>
          <p:nvPr/>
        </p:nvSpPr>
        <p:spPr>
          <a:xfrm>
            <a:off x="7939088" y="1298448"/>
            <a:ext cx="3105912" cy="256032"/>
          </a:xfrm>
          <a:prstGeom prst="roundRect">
            <a:avLst/>
          </a:prstGeom>
          <a:solidFill>
            <a:srgbClr val="B9572E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100" b="1">
                <a:solidFill>
                  <a:srgbClr val="FFFFFF"/>
                </a:solidFill>
                <a:latin typeface="Aptos"/>
              </a:rPr>
              <a:t>JUNHO 2026</a:t>
            </a:r>
            <a:endParaRPr lang="pt-BR" sz="1100"/>
          </a:p>
        </p:txBody>
      </p:sp>
      <p:sp>
        <p:nvSpPr>
          <p:cNvPr id="8" name="shape"/>
          <p:cNvSpPr/>
          <p:nvPr/>
        </p:nvSpPr>
        <p:spPr>
          <a:xfrm>
            <a:off x="2240280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9" name="shape"/>
          <p:cNvSpPr/>
          <p:nvPr/>
        </p:nvSpPr>
        <p:spPr>
          <a:xfrm>
            <a:off x="2011680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01/05</a:t>
            </a:r>
            <a:endParaRPr lang="pt-BR" sz="850"/>
          </a:p>
        </p:txBody>
      </p:sp>
      <p:sp>
        <p:nvSpPr>
          <p:cNvPr id="10" name="shape"/>
          <p:cNvSpPr/>
          <p:nvPr/>
        </p:nvSpPr>
        <p:spPr>
          <a:xfrm>
            <a:off x="3527108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11" name="shape"/>
          <p:cNvSpPr/>
          <p:nvPr/>
        </p:nvSpPr>
        <p:spPr>
          <a:xfrm>
            <a:off x="3298508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08/05</a:t>
            </a:r>
            <a:endParaRPr lang="pt-BR" sz="850"/>
          </a:p>
        </p:txBody>
      </p:sp>
      <p:sp>
        <p:nvSpPr>
          <p:cNvPr id="12" name="shape"/>
          <p:cNvSpPr/>
          <p:nvPr/>
        </p:nvSpPr>
        <p:spPr>
          <a:xfrm>
            <a:off x="4813935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13" name="shape"/>
          <p:cNvSpPr/>
          <p:nvPr/>
        </p:nvSpPr>
        <p:spPr>
          <a:xfrm>
            <a:off x="4585335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15/05</a:t>
            </a:r>
            <a:endParaRPr lang="pt-BR" sz="850"/>
          </a:p>
        </p:txBody>
      </p:sp>
      <p:sp>
        <p:nvSpPr>
          <p:cNvPr id="14" name="shape"/>
          <p:cNvSpPr/>
          <p:nvPr/>
        </p:nvSpPr>
        <p:spPr>
          <a:xfrm>
            <a:off x="6100762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15" name="shape"/>
          <p:cNvSpPr/>
          <p:nvPr/>
        </p:nvSpPr>
        <p:spPr>
          <a:xfrm>
            <a:off x="5872162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22/05</a:t>
            </a:r>
            <a:endParaRPr lang="pt-BR" sz="850"/>
          </a:p>
        </p:txBody>
      </p:sp>
      <p:sp>
        <p:nvSpPr>
          <p:cNvPr id="16" name="shape"/>
          <p:cNvSpPr/>
          <p:nvPr/>
        </p:nvSpPr>
        <p:spPr>
          <a:xfrm>
            <a:off x="7387590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17" name="shape"/>
          <p:cNvSpPr/>
          <p:nvPr/>
        </p:nvSpPr>
        <p:spPr>
          <a:xfrm>
            <a:off x="7158990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29/05</a:t>
            </a:r>
            <a:endParaRPr lang="pt-BR" sz="850"/>
          </a:p>
        </p:txBody>
      </p:sp>
      <p:sp>
        <p:nvSpPr>
          <p:cNvPr id="18" name="shape"/>
          <p:cNvSpPr/>
          <p:nvPr/>
        </p:nvSpPr>
        <p:spPr>
          <a:xfrm>
            <a:off x="8674418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19" name="shape"/>
          <p:cNvSpPr/>
          <p:nvPr/>
        </p:nvSpPr>
        <p:spPr>
          <a:xfrm>
            <a:off x="8445818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05/06</a:t>
            </a:r>
            <a:endParaRPr lang="pt-BR" sz="850"/>
          </a:p>
        </p:txBody>
      </p:sp>
      <p:sp>
        <p:nvSpPr>
          <p:cNvPr id="20" name="shape"/>
          <p:cNvSpPr/>
          <p:nvPr/>
        </p:nvSpPr>
        <p:spPr>
          <a:xfrm>
            <a:off x="9961245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21" name="shape"/>
          <p:cNvSpPr/>
          <p:nvPr/>
        </p:nvSpPr>
        <p:spPr>
          <a:xfrm>
            <a:off x="9732645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12/06</a:t>
            </a:r>
            <a:endParaRPr lang="pt-BR" sz="850"/>
          </a:p>
        </p:txBody>
      </p:sp>
      <p:sp>
        <p:nvSpPr>
          <p:cNvPr id="22" name="shape"/>
          <p:cNvSpPr/>
          <p:nvPr/>
        </p:nvSpPr>
        <p:spPr>
          <a:xfrm>
            <a:off x="10880408" y="1627632"/>
            <a:ext cx="9144" cy="4224528"/>
          </a:xfrm>
          <a:prstGeom prst="rect">
            <a:avLst/>
          </a:prstGeom>
          <a:solidFill>
            <a:srgbClr val="10231F">
              <a:alpha val="18000"/>
            </a:srgbClr>
          </a:solidFill>
          <a:ln w="0">
            <a:noFill/>
          </a:ln>
        </p:spPr>
      </p:sp>
      <p:sp>
        <p:nvSpPr>
          <p:cNvPr id="23" name="shape"/>
          <p:cNvSpPr/>
          <p:nvPr/>
        </p:nvSpPr>
        <p:spPr>
          <a:xfrm>
            <a:off x="10651808" y="5888736"/>
            <a:ext cx="45720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850" b="1">
                <a:solidFill>
                  <a:srgbClr val="5B4A3A"/>
                </a:solidFill>
                <a:latin typeface="Aptos"/>
              </a:rPr>
              <a:t>17/06</a:t>
            </a:r>
            <a:endParaRPr lang="pt-BR" sz="850"/>
          </a:p>
        </p:txBody>
      </p:sp>
      <p:sp>
        <p:nvSpPr>
          <p:cNvPr id="24" name="shape"/>
          <p:cNvSpPr/>
          <p:nvPr/>
        </p:nvSpPr>
        <p:spPr>
          <a:xfrm>
            <a:off x="621792" y="1993392"/>
            <a:ext cx="1371600" cy="38404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r"/>
            <a:r>
              <a:rPr lang="pt-BR" sz="1200" b="1">
                <a:solidFill>
                  <a:srgbClr val="10231F"/>
                </a:solidFill>
                <a:latin typeface="Aptos"/>
              </a:rPr>
              <a:t>Planejamento</a:t>
            </a:r>
            <a:endParaRPr lang="pt-BR" sz="1200"/>
          </a:p>
        </p:txBody>
      </p:sp>
      <p:sp>
        <p:nvSpPr>
          <p:cNvPr id="25" name="shape"/>
          <p:cNvSpPr/>
          <p:nvPr/>
        </p:nvSpPr>
        <p:spPr>
          <a:xfrm>
            <a:off x="2240280" y="1993392"/>
            <a:ext cx="1470660" cy="384048"/>
          </a:xfrm>
          <a:prstGeom prst="roundRect">
            <a:avLst/>
          </a:prstGeom>
          <a:solidFill>
            <a:srgbClr val="3867FF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50" b="1">
                <a:solidFill>
                  <a:srgbClr val="FFFFFF"/>
                </a:solidFill>
                <a:latin typeface="Aptos"/>
              </a:rPr>
              <a:t>proposta, escopo e backlog</a:t>
            </a:r>
            <a:endParaRPr lang="pt-BR" sz="1050"/>
          </a:p>
        </p:txBody>
      </p:sp>
      <p:sp>
        <p:nvSpPr>
          <p:cNvPr id="26" name="shape"/>
          <p:cNvSpPr/>
          <p:nvPr/>
        </p:nvSpPr>
        <p:spPr>
          <a:xfrm>
            <a:off x="621792" y="2651760"/>
            <a:ext cx="1371600" cy="38404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r"/>
            <a:r>
              <a:rPr lang="pt-BR" sz="1200" b="1">
                <a:solidFill>
                  <a:srgbClr val="10231F"/>
                </a:solidFill>
                <a:latin typeface="Aptos"/>
              </a:rPr>
              <a:t>UX + arquitetura</a:t>
            </a:r>
            <a:endParaRPr lang="pt-BR" sz="1200"/>
          </a:p>
        </p:txBody>
      </p:sp>
      <p:sp>
        <p:nvSpPr>
          <p:cNvPr id="27" name="shape"/>
          <p:cNvSpPr/>
          <p:nvPr/>
        </p:nvSpPr>
        <p:spPr>
          <a:xfrm>
            <a:off x="3710940" y="2651760"/>
            <a:ext cx="2389823" cy="384048"/>
          </a:xfrm>
          <a:prstGeom prst="roundRect">
            <a:avLst/>
          </a:prstGeom>
          <a:solidFill>
            <a:srgbClr val="17B8CC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50" b="1">
                <a:solidFill>
                  <a:srgbClr val="FFFFFF"/>
                </a:solidFill>
                <a:latin typeface="Aptos"/>
              </a:rPr>
              <a:t>jornada, C4 e modelo de dados</a:t>
            </a:r>
            <a:endParaRPr lang="pt-BR" sz="1050"/>
          </a:p>
        </p:txBody>
      </p:sp>
      <p:sp>
        <p:nvSpPr>
          <p:cNvPr id="28" name="shape"/>
          <p:cNvSpPr/>
          <p:nvPr/>
        </p:nvSpPr>
        <p:spPr>
          <a:xfrm>
            <a:off x="621792" y="3310128"/>
            <a:ext cx="1371600" cy="38404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r"/>
            <a:r>
              <a:rPr lang="pt-BR" sz="1200" b="1">
                <a:solidFill>
                  <a:srgbClr val="10231F"/>
                </a:solidFill>
                <a:latin typeface="Aptos"/>
              </a:rPr>
              <a:t>Desenvolvimento</a:t>
            </a:r>
            <a:endParaRPr lang="pt-BR" sz="1200"/>
          </a:p>
        </p:txBody>
      </p:sp>
      <p:sp>
        <p:nvSpPr>
          <p:cNvPr id="29" name="shape"/>
          <p:cNvSpPr/>
          <p:nvPr/>
        </p:nvSpPr>
        <p:spPr>
          <a:xfrm>
            <a:off x="6100762" y="3310128"/>
            <a:ext cx="3125153" cy="384048"/>
          </a:xfrm>
          <a:prstGeom prst="roundRect">
            <a:avLst/>
          </a:prstGeom>
          <a:solidFill>
            <a:srgbClr val="23C98F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50" b="1">
                <a:solidFill>
                  <a:srgbClr val="FFFFFF"/>
                </a:solidFill>
                <a:latin typeface="Aptos"/>
              </a:rPr>
              <a:t>Kanban, auditoria e metricas</a:t>
            </a:r>
            <a:endParaRPr lang="pt-BR" sz="1050"/>
          </a:p>
        </p:txBody>
      </p:sp>
      <p:sp>
        <p:nvSpPr>
          <p:cNvPr id="30" name="shape"/>
          <p:cNvSpPr/>
          <p:nvPr/>
        </p:nvSpPr>
        <p:spPr>
          <a:xfrm>
            <a:off x="621792" y="3968496"/>
            <a:ext cx="1371600" cy="38404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r"/>
            <a:r>
              <a:rPr lang="pt-BR" sz="1200" b="1">
                <a:solidFill>
                  <a:srgbClr val="10231F"/>
                </a:solidFill>
                <a:latin typeface="Aptos"/>
              </a:rPr>
              <a:t>Qualidade</a:t>
            </a:r>
            <a:endParaRPr lang="pt-BR" sz="1200"/>
          </a:p>
        </p:txBody>
      </p:sp>
      <p:sp>
        <p:nvSpPr>
          <p:cNvPr id="31" name="shape"/>
          <p:cNvSpPr/>
          <p:nvPr/>
        </p:nvSpPr>
        <p:spPr>
          <a:xfrm>
            <a:off x="9225915" y="3968496"/>
            <a:ext cx="1102995" cy="384048"/>
          </a:xfrm>
          <a:prstGeom prst="roundRect">
            <a:avLst/>
          </a:prstGeom>
          <a:solidFill>
            <a:srgbClr val="FFC857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50" b="1">
                <a:solidFill>
                  <a:srgbClr val="10231F"/>
                </a:solidFill>
                <a:latin typeface="Aptos"/>
              </a:rPr>
              <a:t>testes, UI e documentacao</a:t>
            </a:r>
            <a:endParaRPr lang="pt-BR" sz="1050"/>
          </a:p>
        </p:txBody>
      </p:sp>
      <p:sp>
        <p:nvSpPr>
          <p:cNvPr id="32" name="shape"/>
          <p:cNvSpPr/>
          <p:nvPr/>
        </p:nvSpPr>
        <p:spPr>
          <a:xfrm>
            <a:off x="621792" y="4626864"/>
            <a:ext cx="1371600" cy="384048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r"/>
            <a:r>
              <a:rPr lang="pt-BR" sz="1200" b="1">
                <a:solidFill>
                  <a:srgbClr val="10231F"/>
                </a:solidFill>
                <a:latin typeface="Aptos"/>
              </a:rPr>
              <a:t>Apresentacao</a:t>
            </a:r>
            <a:endParaRPr lang="pt-BR" sz="1200"/>
          </a:p>
        </p:txBody>
      </p:sp>
      <p:sp>
        <p:nvSpPr>
          <p:cNvPr id="33" name="shape"/>
          <p:cNvSpPr/>
          <p:nvPr/>
        </p:nvSpPr>
        <p:spPr>
          <a:xfrm>
            <a:off x="10328910" y="4626864"/>
            <a:ext cx="735330" cy="384048"/>
          </a:xfrm>
          <a:prstGeom prst="roundRect">
            <a:avLst/>
          </a:prstGeom>
          <a:solidFill>
            <a:srgbClr val="FF5A8A"/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50" b="1">
                <a:solidFill>
                  <a:srgbClr val="FFFFFF"/>
                </a:solidFill>
                <a:latin typeface="Aptos"/>
              </a:rPr>
              <a:t>slides, Git e entrega final</a:t>
            </a:r>
            <a:endParaRPr lang="pt-BR" sz="1050"/>
          </a:p>
        </p:txBody>
      </p:sp>
      <p:sp>
        <p:nvSpPr>
          <p:cNvPr id="34" name="shape"/>
          <p:cNvSpPr/>
          <p:nvPr/>
        </p:nvSpPr>
        <p:spPr>
          <a:xfrm>
            <a:off x="10807256" y="5340096"/>
            <a:ext cx="146304" cy="146304"/>
          </a:xfrm>
          <a:prstGeom prst="diamond">
            <a:avLst/>
          </a:prstGeom>
          <a:solidFill>
            <a:srgbClr val="10231F"/>
          </a:solidFill>
          <a:ln w="0">
            <a:noFill/>
          </a:ln>
        </p:spPr>
      </p:sp>
      <p:sp>
        <p:nvSpPr>
          <p:cNvPr id="35" name="shape"/>
          <p:cNvSpPr/>
          <p:nvPr/>
        </p:nvSpPr>
        <p:spPr>
          <a:xfrm>
            <a:off x="10222039" y="5468112"/>
            <a:ext cx="1280160" cy="219456"/>
          </a:xfrm>
          <a:prstGeom prst="rect">
            <a:avLst/>
          </a:prstGeom>
          <a:noFill/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900" b="1">
                <a:solidFill>
                  <a:srgbClr val="10231F"/>
                </a:solidFill>
                <a:latin typeface="Aptos"/>
              </a:rPr>
              <a:t>marco de entrega</a:t>
            </a:r>
            <a:endParaRPr lang="pt-BR" sz="900"/>
          </a:p>
        </p:txBody>
      </p:sp>
      <p:sp>
        <p:nvSpPr>
          <p:cNvPr id="36" name="shape"/>
          <p:cNvSpPr/>
          <p:nvPr/>
        </p:nvSpPr>
        <p:spPr>
          <a:xfrm>
            <a:off x="658368" y="6291072"/>
            <a:ext cx="10351008" cy="292608"/>
          </a:xfrm>
          <a:prstGeom prst="roundRect">
            <a:avLst/>
          </a:prstGeom>
          <a:solidFill>
            <a:srgbClr val="FFFFFF">
              <a:alpha val="76000"/>
            </a:srgbClr>
          </a:solidFill>
          <a:ln w="0">
            <a:noFill/>
          </a:ln>
        </p:spPr>
        <p:txBody>
          <a:bodyPr wrap="square" anchor="ctr" lIns="73152" rIns="73152" tIns="45720" bIns="45720"/>
          <a:lstStyle/>
          <a:p>
            <a:pPr algn="ctr"/>
            <a:r>
              <a:rPr lang="pt-BR" sz="1050" b="1">
                <a:solidFill>
                  <a:srgbClr val="5B4A3A"/>
                </a:solidFill>
                <a:latin typeface="Aptos"/>
              </a:rPr>
              <a:t>Leitura: barras representam duracao das etapas; linhas verticais indicam cortes semanais e marco final do MVP.</a:t>
            </a:r>
            <a:endParaRPr lang="pt-BR" sz="105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A81CB2-6D8F-469C-B122-31B4EBC8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F96DBF-6660-47F3-B6E1-AD01CEE3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113157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B8A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57331B-1C4A-4A38-9636-4484028B2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248400"/>
            <a:ext cx="571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CBD8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BD8CC"/>
                </a:solidFill>
                <a:latin typeface="Aptos"/>
                <a:ea typeface="Aptos"/>
                <a:cs typeface="Aptos"/>
              </a:rPr>
              <a:t>FlowMetrics MVP | Gerencia e Arquitetura de Software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AE3921-2368-44A2-9039-214F50AC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248400"/>
            <a:ext cx="685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BD8C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8C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65C8B343-E5BE-4E75-B119-812AD0C8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47713"/>
            <a:ext cx="266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DCAFE276-C903-4760-9119-17FFE684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66750"/>
            <a:ext cx="476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BE6DA"/>
                </a:solidFill>
                <a:latin typeface="Aptos"/>
                <a:ea typeface="Aptos"/>
                <a:cs typeface="Aptos"/>
              </a:rPr>
              <a:t>RESULTADOS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3D5F6-A006-454D-BDBA-8515E3B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04900"/>
            <a:ext cx="7239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AF0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AF0"/>
                </a:solidFill>
                <a:latin typeface="Aptos Display"/>
                <a:ea typeface="Aptos Display"/>
                <a:cs typeface="Aptos Display"/>
              </a:rPr>
              <a:t>A entrega prova produto, arquitetura e execucao tecnica.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4050D1-8605-4D04-9454-59021B76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97B38A-BED6-4FFC-BF51-2DFFC841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FEF9D-B9B6-48B4-995F-44C65A42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337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Frontend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8097EA-C402-4792-981E-4AE437611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4805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Build Next.js concluido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29091F-19EE-4339-B78B-D6CB931C5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90850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E64746-2D0D-4727-B2EF-4172DAE9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9085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9BD52C-A5FC-4A2C-B2B0-848D5512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337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Backend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E39134-A297-4F75-84E9-E655AB511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44805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Teste unitario de metricas passou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DD64C8-9D92-4158-A0FA-589BEF94B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CF7F6E-7980-42CB-825C-15382493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04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87DBDB-DA15-4FA4-9CBD-17D21357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5767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Seguranca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A86E9A-F859-420A-9C5A-803A7497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7200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npm audit sem vulnerabilidades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7F1EE2-5B49-4650-9DE3-B50CCCDE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114800"/>
            <a:ext cx="4476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FE4"/>
          </a:solidFill>
          <a:ln xmlns:a="http://schemas.openxmlformats.org/drawingml/2006/main" w="9525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230E01-3586-4808-A89F-74E454FB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1148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A13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AAEE22-6032-4E7C-9B15-0789D564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5767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10231F"/>
                </a:solidFill>
                <a:latin typeface="Aptos Display"/>
                <a:ea typeface="Aptos Display"/>
                <a:cs typeface="Aptos Display"/>
              </a:rPr>
              <a:t>Smoke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FDBEF3-4809-4CB1-BBDD-05D9C36A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572000"/>
            <a:ext cx="3695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F7D7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7D75"/>
                </a:solidFill>
                <a:latin typeface="Aptos"/>
                <a:ea typeface="Aptos"/>
                <a:cs typeface="Aptos"/>
              </a:rPr>
              <a:t>API + PostgreSQL criaram e moveram card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7631D7-C5E5-4009-BE0F-0D0E3564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BE6D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BE6DA"/>
                </a:solidFill>
                <a:latin typeface="Aptos"/>
                <a:ea typeface="Aptos"/>
                <a:cs typeface="Aptos"/>
              </a:rPr>
              <a:t>Proximos passos: autenticacao externa, permissoes por equipe, CI/CD GitHub Actions, deploy Railway e relatorios historicos por periodo.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298B1-A72D-4B8F-8FCF-6A52AAD5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24550"/>
            <a:ext cx="7620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6045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96045"/>
                </a:solidFill>
                <a:latin typeface="Aptos"/>
                <a:ea typeface="Aptos"/>
                <a:cs typeface="Aptos"/>
              </a:rPr>
              <a:t>Frase final: transformar movimento em inteligencia operacional.</a:t>
            </a:r>
          </a:p>
        </p:txBody>
      </p:sp>
    </p:spTree>
    <p:extLst>
      <p:ext uri="{BB962C8B-B14F-4D97-AF65-F5344CB8AC3E}">
        <p14:creationId xmlns:p14="http://schemas.microsoft.com/office/powerpoint/2010/main" val="20717524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2026-06-08T03:09:13.9930000Z</dcterms:created>
  <dcterms:modified xsi:type="dcterms:W3CDTF">2026-06-08T03:09:13.9930000Z</dcterms:modified>
</coreProperties>
</file>