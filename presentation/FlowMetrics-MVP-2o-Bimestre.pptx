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0eb4d1f4054590" /><Relationship Type="http://schemas.openxmlformats.org/officeDocument/2006/relationships/extended-properties" Target="/docProps/app.xml" Id="Re7c7edbdd0764802" /><Relationship Type="http://schemas.openxmlformats.org/officeDocument/2006/relationships/officeDocument" Target="/ppt/presentation.xml" Id="R98c66fa4e0fb4c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de68e8bb6c4cc5"/>
  </p:sldMasterIdLst>
  <p:notesMasterIdLst>
    <p:notesMasterId xmlns:r="http://schemas.openxmlformats.org/officeDocument/2006/relationships" r:id="Rb40aff035d564b90"/>
  </p:notesMasterIdLst>
  <p:sldIdLst>
    <p:sldId xmlns:r="http://schemas.openxmlformats.org/officeDocument/2006/relationships" id="256" r:id="R19ffc30518e940e1"/>
    <p:sldId xmlns:r="http://schemas.openxmlformats.org/officeDocument/2006/relationships" id="257" r:id="Raf3e74c4d03d41c2"/>
    <p:sldId xmlns:r="http://schemas.openxmlformats.org/officeDocument/2006/relationships" id="258" r:id="R375cba0a2858420c"/>
    <p:sldId xmlns:r="http://schemas.openxmlformats.org/officeDocument/2006/relationships" id="259" r:id="Rf7182713bf12488f"/>
    <p:sldId xmlns:r="http://schemas.openxmlformats.org/officeDocument/2006/relationships" id="260" r:id="Rd7d0d89a4f3c4f9b"/>
    <p:sldId xmlns:r="http://schemas.openxmlformats.org/officeDocument/2006/relationships" id="261" r:id="R8ca93139af014c7c"/>
    <p:sldId xmlns:r="http://schemas.openxmlformats.org/officeDocument/2006/relationships" id="262" r:id="Ra515eaf3a3584b76"/>
    <p:sldId xmlns:r="http://schemas.openxmlformats.org/officeDocument/2006/relationships" id="263" r:id="R2a13b12dc21541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b98c9d78744de3" /><Relationship Type="http://schemas.openxmlformats.org/officeDocument/2006/relationships/slideMaster" Target="/ppt/slideMasters/slideMaster1.xml" Id="R10de68e8bb6c4cc5" /><Relationship Type="http://schemas.openxmlformats.org/officeDocument/2006/relationships/notesMaster" Target="/ppt/notesMasters/notesMaster1.xml" Id="Rb40aff035d564b90" /><Relationship Type="http://schemas.openxmlformats.org/officeDocument/2006/relationships/presProps" Target="/ppt/presProps.xml" Id="R2a649d60dbe44947" /><Relationship Type="http://schemas.openxmlformats.org/officeDocument/2006/relationships/viewProps" Target="/ppt/viewProps.xml" Id="R8f11ba219f784181" /><Relationship Type="http://schemas.openxmlformats.org/officeDocument/2006/relationships/tableStyles" Target="/ppt/tableStyles.xml" Id="R614fc0202ef24488" /><Relationship Type="http://schemas.openxmlformats.org/officeDocument/2006/relationships/slide" Target="/ppt/slides/slide1.xml" Id="R19ffc30518e940e1" /><Relationship Type="http://schemas.openxmlformats.org/officeDocument/2006/relationships/slide" Target="/ppt/slides/slide2.xml" Id="Raf3e74c4d03d41c2" /><Relationship Type="http://schemas.openxmlformats.org/officeDocument/2006/relationships/slide" Target="/ppt/slides/slide3.xml" Id="R375cba0a2858420c" /><Relationship Type="http://schemas.openxmlformats.org/officeDocument/2006/relationships/slide" Target="/ppt/slides/slide4.xml" Id="Rf7182713bf12488f" /><Relationship Type="http://schemas.openxmlformats.org/officeDocument/2006/relationships/slide" Target="/ppt/slides/slide5.xml" Id="Rd7d0d89a4f3c4f9b" /><Relationship Type="http://schemas.openxmlformats.org/officeDocument/2006/relationships/slide" Target="/ppt/slides/slide6.xml" Id="R8ca93139af014c7c" /><Relationship Type="http://schemas.openxmlformats.org/officeDocument/2006/relationships/slide" Target="/ppt/slides/slide7.xml" Id="Ra515eaf3a3584b76" /><Relationship Type="http://schemas.openxmlformats.org/officeDocument/2006/relationships/slide" Target="/ppt/slides/slide8.xml" Id="R2a13b12dc21541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1f801656f847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955e552cae425d" /><Relationship Type="http://schemas.openxmlformats.org/officeDocument/2006/relationships/notesMaster" Target="/ppt/notesMasters/notesMaster1.xml" Id="R7ce47db3153347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0c8b650d9fe40be" /><Relationship Type="http://schemas.openxmlformats.org/officeDocument/2006/relationships/notesMaster" Target="/ppt/notesMasters/notesMaster1.xml" Id="R5ff3a387a35149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d793b8daa6405c" /><Relationship Type="http://schemas.openxmlformats.org/officeDocument/2006/relationships/notesMaster" Target="/ppt/notesMasters/notesMaster1.xml" Id="Ra941170fa2744c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aff3c7b39d44cc" /><Relationship Type="http://schemas.openxmlformats.org/officeDocument/2006/relationships/notesMaster" Target="/ppt/notesMasters/notesMaster1.xml" Id="Rcd4063b769474e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7c31637f84ecd" /><Relationship Type="http://schemas.openxmlformats.org/officeDocument/2006/relationships/notesMaster" Target="/ppt/notesMasters/notesMaster1.xml" Id="Rf6c4b16ce72d4e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8af114e2c941df" /><Relationship Type="http://schemas.openxmlformats.org/officeDocument/2006/relationships/notesMaster" Target="/ppt/notesMasters/notesMaster1.xml" Id="R369f817dfd1840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7de7c7aa7d46a3" /><Relationship Type="http://schemas.openxmlformats.org/officeDocument/2006/relationships/notesMaster" Target="/ppt/notesMasters/notesMaster1.xml" Id="R82462052a3f84a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ac3b5b840845e8" /><Relationship Type="http://schemas.openxmlformats.org/officeDocument/2006/relationships/notesMaster" Target="/ppt/notesMasters/notesMaster1.xml" Id="R3b327d24b4494e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304567d64d40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4bfed915264346" /><Relationship Type="http://schemas.openxmlformats.org/officeDocument/2006/relationships/slideLayout" Target="/ppt/slideLayouts/slideLayout1.xml" Id="Rb23698af35b1487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3698af35b1487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6a0df936b44fa" /><Relationship Type="http://schemas.openxmlformats.org/officeDocument/2006/relationships/notesSlide" Target="/ppt/notesSlides/notesSlide1.xml" Id="Rb95a03706cf043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fc1b2e7e144d7" /><Relationship Type="http://schemas.openxmlformats.org/officeDocument/2006/relationships/notesSlide" Target="/ppt/notesSlides/notesSlide2.xml" Id="Rd95621b162f946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31748923f4c81" /><Relationship Type="http://schemas.openxmlformats.org/officeDocument/2006/relationships/notesSlide" Target="/ppt/notesSlides/notesSlide3.xml" Id="R7bb11f1f1c494d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f25fa379847e7" /><Relationship Type="http://schemas.openxmlformats.org/officeDocument/2006/relationships/notesSlide" Target="/ppt/notesSlides/notesSlide4.xml" Id="R97c5e7bb6c664a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9b0c91640c42ee" /><Relationship Type="http://schemas.openxmlformats.org/officeDocument/2006/relationships/notesSlide" Target="/ppt/notesSlides/notesSlide5.xml" Id="Raf38055297e6438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9482a2a7a74a3e" /><Relationship Type="http://schemas.openxmlformats.org/officeDocument/2006/relationships/notesSlide" Target="/ppt/notesSlides/notesSlide6.xml" Id="R3fc8826e5ba74f9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43b327827d4e9b" /><Relationship Type="http://schemas.openxmlformats.org/officeDocument/2006/relationships/notesSlide" Target="/ppt/notesSlides/notesSlide7.xml" Id="Rc2b426fb350248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92b8761af4179" /><Relationship Type="http://schemas.openxmlformats.org/officeDocument/2006/relationships/notesSlide" Target="/ppt/notesSlides/notesSlide8.xml" Id="Rc80b7a6b043348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3B3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4D1ED-23A6-469B-93D9-66DB012F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A9EA3A-F60E-400A-92FC-3E12E4DE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78105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B3EEA-D27B-4BCF-B48A-0ADEBFD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90575"/>
            <a:ext cx="4762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3B36"/>
                </a:solidFill>
              </a:defRPr>
            </a:pPr>
            <a:r>
              <a:rPr sz="2100" b="1">
                <a:solidFill>
                  <a:srgbClr val="113B36"/>
                </a:solidFill>
                <a:latin typeface="Bahnschrift"/>
                <a:ea typeface="Bahnschrift"/>
                <a:cs typeface="Bahnschrift"/>
              </a:rPr>
              <a:t>FM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67BA92-2C9D-4051-AE8B-46E4D552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7239000" cy="590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AF0"/>
                </a:solidFill>
              </a:defRPr>
            </a:pPr>
            <a:r>
              <a:rPr sz="4050" b="1">
                <a:solidFill>
                  <a:srgbClr val="FFFAF0"/>
                </a:solidFill>
                <a:latin typeface="Bahnschrift"/>
                <a:ea typeface="Bahnschrift"/>
                <a:cs typeface="Bahnschrift"/>
              </a:rPr>
              <a:t>FlowMetrics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BA1A0B-ABE5-49D0-BE3C-19037265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6858000" cy="666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DE5D6"/>
                </a:solidFill>
              </a:defRPr>
            </a:pPr>
            <a:r>
              <a:rPr sz="1875" b="0">
                <a:solidFill>
                  <a:srgbClr val="EDE5D6"/>
                </a:solidFill>
                <a:latin typeface="Aptos"/>
                <a:ea typeface="Aptos"/>
                <a:cs typeface="Aptos"/>
              </a:rPr>
              <a:t>Kanban que mede o fluxo enquanto o trabalho acontece.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980995-E380-4B6B-A8E3-7EA8439C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8D1C5"/>
                </a:solidFill>
              </a:defRPr>
            </a:pPr>
            <a:r>
              <a:rPr sz="1125" b="1">
                <a:solidFill>
                  <a:srgbClr val="D8D1C5"/>
                </a:solidFill>
                <a:latin typeface="Aptos"/>
                <a:ea typeface="Aptos"/>
                <a:cs typeface="Aptos"/>
              </a:rPr>
              <a:t>MVP pratico - Gerencia de Projetos e Arquitetura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C9E8B-E62A-4DA7-AD36-953E9297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81700"/>
            <a:ext cx="7239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BFC8C4"/>
                </a:solidFill>
              </a:defRPr>
            </a:pPr>
            <a:r>
              <a:rPr sz="975" b="0">
                <a:solidFill>
                  <a:srgbClr val="BFC8C4"/>
                </a:solidFill>
                <a:latin typeface="Aptos"/>
                <a:ea typeface="Aptos"/>
                <a:cs typeface="Aptos"/>
              </a:rPr>
              <a:t>Joao Prates | Melissa Brambilla | Thalys Albino | Lucas Santos | Gustavo Pastre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FAAE0-C9D7-46CD-93AD-6DD83BBE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123950"/>
            <a:ext cx="23812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E38465-F711-41F0-933E-1F846893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66825"/>
            <a:ext cx="2038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6F5F"/>
                </a:solidFill>
              </a:defRPr>
            </a:pPr>
            <a:r>
              <a:rPr sz="2550" b="1">
                <a:solidFill>
                  <a:srgbClr val="0F6F5F"/>
                </a:solidFill>
                <a:latin typeface="Bahnschrift"/>
                <a:ea typeface="Bahnschrift"/>
                <a:cs typeface="Bahnschrift"/>
              </a:rPr>
              <a:t>Lead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C0F9E-C8E0-4522-8DB9-1A2229B1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14500"/>
            <a:ext cx="20383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tempo criacao -&gt; entrega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718198-AEF4-4161-A436-67C438F0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3812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6F4BD8-F984-4BE5-8D0A-6C8AC9E6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24125"/>
            <a:ext cx="2038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4C9A"/>
                </a:solidFill>
              </a:defRPr>
            </a:pPr>
            <a:r>
              <a:rPr sz="2550" b="1">
                <a:solidFill>
                  <a:srgbClr val="344C9A"/>
                </a:solidFill>
                <a:latin typeface="Bahnschrift"/>
                <a:ea typeface="Bahnschrift"/>
                <a:cs typeface="Bahnschrift"/>
              </a:rPr>
              <a:t>Cycle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65921C-2E93-4F07-8F53-03542669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20383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tempo execucao -&gt; entrega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B9ECAD-76DD-4B60-B414-8919FC54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38550"/>
            <a:ext cx="23812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E0173-5E59-425A-987D-F007B4F9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81425"/>
            <a:ext cx="2038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6045"/>
                </a:solidFill>
              </a:defRPr>
            </a:pPr>
            <a:r>
              <a:rPr sz="2550" b="1">
                <a:solidFill>
                  <a:srgbClr val="D96045"/>
                </a:solidFill>
                <a:latin typeface="Bahnschrift"/>
                <a:ea typeface="Bahnschrift"/>
                <a:cs typeface="Bahnschrift"/>
              </a:rPr>
              <a:t>Gargalo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F3635E-6DCB-42A3-9068-91719D12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29100"/>
            <a:ext cx="20383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coluna com maior espera</a:t>
            </a:r>
          </a:p>
        </p:txBody>
      </p:sp>
    </p:spTree>
    <p:extLst>
      <p:ext uri="{BB962C8B-B14F-4D97-AF65-F5344CB8AC3E}">
        <p14:creationId xmlns:p14="http://schemas.microsoft.com/office/powerpoint/2010/main" val="10587338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1BF779-46D3-4C1E-8671-01313A5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98590-20A9-49CE-AFF3-57124F91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5C450-ACFB-4457-A754-E7AD48D5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DE091-EF06-4329-A868-C6F71754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3C9D84-11B2-43FB-9084-0BDB5AC8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360F5-F95F-43ED-B844-623F22A1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Trello organiza cards, mas nao explica o tempo perdido.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A2248-85B0-491B-835C-DFC1E497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A lacuna do concorrente aparece quando gestores precisam transformar movimento em decisao.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ED947C-FC26-405B-BA0B-BC6FCAAB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285750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DE655-9C16-455B-AD8B-8B39DCD3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8DC427-D27C-4609-BECF-7B93DFAD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533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Quadro visual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BD35D-C12D-432B-8A2F-CBF5184F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2533650" cy="895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Status dos cards fica claro, mas a passagem do tempo nao vira indicador automaticamente.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7AE6E3-5019-4A99-A63D-472CB448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285750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DB3D0-A637-48E8-AAC1-EEE3511E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29EB7-211A-4A9D-B92E-16208C315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9900"/>
            <a:ext cx="2533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Extensoes externas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12CD6C-EE90-4EE5-BA53-C2A483A9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95650"/>
            <a:ext cx="2533650" cy="895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Lead Time e Cycle Time dependem de Power-Ups, planilhas ou BI fora do fluxo principal.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156F5-4960-4E04-A975-51BB590B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57500"/>
            <a:ext cx="2857500" cy="1428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881EA-E1A6-4B13-B1FE-1CFE48F1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5750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3AED0-7B1B-482C-BDCB-3B8A7994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09900"/>
            <a:ext cx="2533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Baixa visibilidade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7021BF-A870-4B4C-B708-9D44E35F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95650"/>
            <a:ext cx="2533650" cy="895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Gargalos aparecem tarde, quando o atraso ja virou percepcao do cliente ou do time.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11DF0D-6C7C-436A-B5DE-D6F857B9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200150"/>
            <a:ext cx="2762250" cy="12573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590D06-BCB0-4DC2-9CAB-ADA4BAE4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428750"/>
            <a:ext cx="219075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0A13A"/>
                </a:solidFill>
              </a:defRPr>
            </a:pPr>
            <a:r>
              <a:rPr sz="975" b="1">
                <a:solidFill>
                  <a:srgbClr val="E0A13A"/>
                </a:solidFill>
                <a:latin typeface="Aptos"/>
                <a:ea typeface="Aptos"/>
                <a:cs typeface="Aptos"/>
              </a:rPr>
              <a:t>Oportunidade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9F2F5B-236A-494A-9384-511FEF3F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752600"/>
            <a:ext cx="2190750" cy="533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AF0"/>
                </a:solidFill>
              </a:defRPr>
            </a:pPr>
            <a:r>
              <a:rPr sz="1575" b="1">
                <a:solidFill>
                  <a:srgbClr val="FFFAF0"/>
                </a:solidFill>
                <a:latin typeface="Bahnschrift"/>
                <a:ea typeface="Bahnschrift"/>
                <a:cs typeface="Bahnschrift"/>
              </a:rPr>
              <a:t>Medir o fluxo no mesmo lugar onde o trabalho muda de coluna.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E7B3AF-49D2-418F-9E8D-CF2359D9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86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5E8A5C-43EF-4560-80EA-E357F286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3067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Menos ferramentas paralelas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7C204F-9A5C-424B-9C7E-79DAB0FE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886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012747-2DB0-4426-9357-195C8FF8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10125"/>
            <a:ext cx="3448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Decisao baseada em historico real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0C163F-3627-41ED-B352-0DC3D792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86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796E45-181C-4EEF-84B2-F84D0AA6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810125"/>
            <a:ext cx="3448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Gestao de prazo com sinal antecipado</a:t>
            </a:r>
          </a:p>
        </p:txBody>
      </p:sp>
    </p:spTree>
    <p:extLst>
      <p:ext uri="{BB962C8B-B14F-4D97-AF65-F5344CB8AC3E}">
        <p14:creationId xmlns:p14="http://schemas.microsoft.com/office/powerpoint/2010/main" val="13578793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876E72-3134-4067-A124-84488A46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B75F6-76B4-4194-8E66-1F498D42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323E8-688D-4180-BEF7-658A180D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Solucao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289CFA-F812-4AB0-B655-B7EF6908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3E3BB-1E34-41F6-8080-ADA226E3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4F1FE5-8BAC-46B9-ADC9-F74263DA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O MVP transforma cada transicao em uma medicao automatica.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97CCB-1226-4F82-B75B-3AB152F9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O card nao apenas muda de coluna: ele gera um evento de auditoria que alimenta os indicadores.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7D3B6-AD78-4F0E-9AAC-070EA917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7145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D1C736-81C8-4AD3-A6CE-7024DF89A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6C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D17E6-F9D4-477C-849A-C96B1C20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90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Card criado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B50D2-31B6-48FA-A57F-9BAA3B3B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9065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timestamp inicial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E70D4-3966-4E0D-BAF9-D6546EB7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523875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B63E3-D08C-482E-8689-E5D5E148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019425" y="35718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4E481F-1D70-4280-BFB7-3F6D903D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67050"/>
            <a:ext cx="18097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A28040-FB8C-481B-B110-78F983BD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670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B05DEA-1680-4A15-A43D-F7ECC850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1945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Em progresso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BA38FE-35AB-4D5B-9DBE-8F80C8C7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505200"/>
            <a:ext cx="148590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inicio do Cycle Time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887BE-B793-4941-BD3D-95864C76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B0E49E-088D-4C54-82B4-A4E48931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638800" y="35718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A121E9-EB54-4655-B619-F4069239A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67050"/>
            <a:ext cx="161925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24B616-266F-4B00-A22D-9531E0D91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670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F94D7-FF72-41D8-A65B-08CDB38C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19450"/>
            <a:ext cx="12954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Revisao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EB9AA1-6438-4D97-A8AD-6B073D20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05200"/>
            <a:ext cx="129540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fila de validacao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8EBF24-295F-478D-9BCB-5AC632C5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38550"/>
            <a:ext cx="5334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C4E70F-FA43-4846-9AEE-0EA7F638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77200" y="35718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056CAC-D6B9-420D-A115-AE925B33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17145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31BB83-9049-42FC-8A85-097FEE1C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8BE11-834E-48F4-8891-0560E14A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219450"/>
            <a:ext cx="1390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Concluido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728C1A-3843-4108-ABBD-35768968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05200"/>
            <a:ext cx="139065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fim do Lead Time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DA8BB-12F4-4DEA-A710-833E42DF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9315450" cy="400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5D5994-7DCE-4AC0-B4A8-CB335A56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8572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1F"/>
                </a:solidFill>
              </a:defRPr>
            </a:pPr>
            <a:r>
              <a:rPr sz="112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Cada movimento grava: card_id, coluna anterior, proxima coluna e horario da transicao.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C9305A-8E80-41EB-8152-A09D7721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790700"/>
            <a:ext cx="16002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C889C7-251D-47AC-BA85-F90F4915C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33575"/>
            <a:ext cx="12573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6F5F"/>
                </a:solidFill>
              </a:defRPr>
            </a:pPr>
            <a:r>
              <a:rPr sz="2550" b="1">
                <a:solidFill>
                  <a:srgbClr val="0F6F5F"/>
                </a:solidFill>
                <a:latin typeface="Bahnschrift"/>
                <a:ea typeface="Bahnschrift"/>
                <a:cs typeface="Bahnschrift"/>
              </a:rPr>
              <a:t>12.0d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190115-49BC-4988-ADA4-DA30DF18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12573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Lead Time medio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371A82-A28A-473A-8DE7-6CDE16CD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952750"/>
            <a:ext cx="16002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FB785E-BC3B-41E6-AFB3-D8CED9A1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95625"/>
            <a:ext cx="12573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4C9A"/>
                </a:solidFill>
              </a:defRPr>
            </a:pPr>
            <a:r>
              <a:rPr sz="2550" b="1">
                <a:solidFill>
                  <a:srgbClr val="344C9A"/>
                </a:solidFill>
                <a:latin typeface="Bahnschrift"/>
                <a:ea typeface="Bahnschrift"/>
                <a:cs typeface="Bahnschrift"/>
              </a:rPr>
              <a:t>5.5d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B9087C-77D5-47A9-9735-194CBFA6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12573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Cycle Time medio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20C43B-46C0-446F-A09F-7E4C0961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114800"/>
            <a:ext cx="16002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F971E9-BB02-4FB8-9BC2-A25662D1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257675"/>
            <a:ext cx="12573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6045"/>
                </a:solidFill>
              </a:defRPr>
            </a:pPr>
            <a:r>
              <a:rPr sz="2550" b="1">
                <a:solidFill>
                  <a:srgbClr val="D96045"/>
                </a:solidFill>
                <a:latin typeface="Bahnschrift"/>
                <a:ea typeface="Bahnschrift"/>
                <a:cs typeface="Bahnschrift"/>
              </a:rPr>
              <a:t>Revisao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A07AAD-7A56-4B36-87BD-724A79CB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705350"/>
            <a:ext cx="12573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gargalo atual</a:t>
            </a:r>
          </a:p>
        </p:txBody>
      </p:sp>
    </p:spTree>
    <p:extLst>
      <p:ext uri="{BB962C8B-B14F-4D97-AF65-F5344CB8AC3E}">
        <p14:creationId xmlns:p14="http://schemas.microsoft.com/office/powerpoint/2010/main" val="91442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A7E901-42E4-43F9-82EA-0E5B2558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4A376-61DA-4BA3-8AF1-2028EC29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46488-19E5-4628-8896-8C3D1CB0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4E216-7DDD-4D2C-BC52-BD072B1E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4EC79D-30CD-49CB-8227-C3E47DBE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80BC5-3995-4558-B69F-E09C3128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A demonstracao ja cobre o ciclo funcional da proposta.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1BAF0-0486-46FA-AF79-259C9DC7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O produto entregue prova a funcionalidade central antes de expandir cadastro, permissoes e integracoes.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5C338-B4E6-4350-A4EF-F74DD932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5143500" cy="2819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7C9C2-2B47-4300-A17E-3B1CE10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40957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1F"/>
                </a:solidFill>
              </a:defRPr>
            </a:pPr>
            <a:r>
              <a:rPr sz="1650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Funcionalidades implementadas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EE0C5F-BBB0-4904-A11C-D31DFC5F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C6897-FA0F-4502-947F-9183549F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29000"/>
            <a:ext cx="41148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Drag-and-drop entre colunas com timestamp automatico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1F2382-6B2E-4D97-BB4B-94B4413C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CD45F-BC3E-41CC-B6DD-FA80CB26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886200"/>
            <a:ext cx="41148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Criacao de cards e filtro por responsavel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CF3258-7237-400F-A836-ABCB1A84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90BE1-3C1F-4F8B-BD0C-11B59616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41148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Historico de auditoria por card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C2B305-3A95-4693-B453-CDFFA691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6CE1EE-2DF1-496F-9860-968EDD69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00600"/>
            <a:ext cx="41148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Exportacao JSON para evidenciar os dados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BE1-33D3-4119-BB54-BDAEACC5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8097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AAB7E1-CC06-44E3-BE65-C7ED395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57525"/>
            <a:ext cx="14668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6F5F"/>
                </a:solidFill>
              </a:defRPr>
            </a:pPr>
            <a:r>
              <a:rPr sz="2550" b="1">
                <a:solidFill>
                  <a:srgbClr val="0F6F5F"/>
                </a:solidFill>
                <a:latin typeface="Bahnschrift"/>
                <a:ea typeface="Bahnschrift"/>
                <a:cs typeface="Bahnschrift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B50B04-BE95-4440-A077-2EAB4F2C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05200"/>
            <a:ext cx="14668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loop central demonstravel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4037BE-A4DA-426C-B870-AB500D00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14650"/>
            <a:ext cx="15240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DB3E9D-A579-4F6F-B7CE-58079B56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57525"/>
            <a:ext cx="11811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4C9A"/>
                </a:solidFill>
              </a:defRPr>
            </a:pPr>
            <a:r>
              <a:rPr sz="2550" b="1">
                <a:solidFill>
                  <a:srgbClr val="344C9A"/>
                </a:solidFill>
                <a:latin typeface="Bahnschrift"/>
                <a:ea typeface="Bahnschrift"/>
                <a:cs typeface="Bahnschrift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10B60B-BDA1-4785-A912-EA157FC9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05200"/>
            <a:ext cx="11811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colunas Kanban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F020C-71CB-4E66-89A4-3E611006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14650"/>
            <a:ext cx="15240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A4B810-4F69-41B0-92E5-36FC6C6D7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57525"/>
            <a:ext cx="11811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6045"/>
                </a:solidFill>
              </a:defRPr>
            </a:pPr>
            <a:r>
              <a:rPr sz="2550" b="1">
                <a:solidFill>
                  <a:srgbClr val="D96045"/>
                </a:solidFill>
                <a:latin typeface="Bahnschrift"/>
                <a:ea typeface="Bahnschrift"/>
                <a:cs typeface="Bahnschrift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1DEE79-BB69-4D27-A6A2-6BB64F34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505200"/>
            <a:ext cx="11811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indicadores nativos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765857-888A-4CE8-9813-01C51F2F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238750" cy="11239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AF729DB-362B-431A-942D-29A2F2D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33900"/>
            <a:ext cx="43815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0A13A"/>
                </a:solidFill>
              </a:defRPr>
            </a:pPr>
            <a:r>
              <a:rPr sz="1500" b="1">
                <a:solidFill>
                  <a:srgbClr val="E0A13A"/>
                </a:solidFill>
                <a:latin typeface="Bahnschrift"/>
                <a:ea typeface="Bahnschrift"/>
                <a:cs typeface="Bahnschrift"/>
              </a:rPr>
              <a:t>MVP executavel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914BC-489A-454B-8CD3-2C998A7C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38700"/>
            <a:ext cx="45720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AF0"/>
                </a:solidFill>
              </a:defRPr>
            </a:pPr>
            <a:r>
              <a:rPr sz="975" b="0">
                <a:solidFill>
                  <a:srgbClr val="FFFAF0"/>
                </a:solidFill>
                <a:latin typeface="Aptos"/>
                <a:ea typeface="Aptos"/>
                <a:cs typeface="Aptos"/>
              </a:rPr>
              <a:t>Abrir mvp/index.html e mover cards para ver as metricas recalcularem em tempo real.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C22C32-61C1-4940-B0F7-C91470C6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05400"/>
            <a:ext cx="457200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FFAF0"/>
                </a:solidFill>
              </a:defRPr>
            </a:pPr>
            <a:r>
              <a:rPr sz="1050" b="0">
                <a:solidFill>
                  <a:srgbClr val="FFFAF0"/>
                </a:solidFill>
                <a:latin typeface="Aptos"/>
                <a:ea typeface="Aptos"/>
                <a:cs typeface="Aptos"/>
              </a:rPr>
              <a:t>Persistencia local via LocalStorage para a apresentacao; contrato FastAPI documentado para evolucao em producao.</a:t>
            </a:r>
          </a:p>
        </p:txBody>
      </p:sp>
    </p:spTree>
    <p:extLst>
      <p:ext uri="{BB962C8B-B14F-4D97-AF65-F5344CB8AC3E}">
        <p14:creationId xmlns:p14="http://schemas.microsoft.com/office/powerpoint/2010/main" val="10796042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6803A9-759D-487D-94BD-63C2981E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12F161-6F79-4018-8443-20AA13B9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8CE32C-0485-4002-AC18-C2B4DD42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Arquitetura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63BD3-4525-49CF-9E6C-5D740E85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A1D58-2D37-466D-ACF1-F3A61FAB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E47D4-DCF0-4119-A05D-33516F19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A arquitetura isola a regra de metricas do desenho da tela.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4702D-6321-4AF9-BE70-5C49D74D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Camadas separadas permitem evoluir o MVP local para Next.js, FastAPI e PostgreSQL.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D6512-6CF6-4D29-A87D-18F037DD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1809750" cy="1047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A8A13-B99B-48E2-BBC6-F136570D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762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4E36A-8FFF-439B-B028-64B2D317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1945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Gestor de Projetos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F51F58-16EE-40DC-9805-A1E2E94A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05200"/>
            <a:ext cx="1485900" cy="5143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Acessa via navegador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A60FC-673A-4D15-8D7F-26A58C9C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590925"/>
            <a:ext cx="6286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A2C31-D736-4E08-8955-204F920F0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57550" y="35242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79BD2-59F2-471E-A43A-483A1BDA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81300"/>
            <a:ext cx="1809750" cy="1619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295DB0-F4F1-4FD8-A081-D27251F2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81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CA53C4-18AB-4B41-8C1B-A38ECD9E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3370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Web App</a:t>
            </a:r>
          </a:p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Next.js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9BF71-3FCA-48E0-BAB4-A32EB348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9450"/>
            <a:ext cx="1485900" cy="1085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Quadro, dashboard e eventos de 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0D7C88-582C-4FE7-A97F-20AB5C36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590925"/>
            <a:ext cx="6286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ABCCA1-F54C-4B03-BC16-EA0D6C2B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57900" y="352425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7AF4AB-6C68-4450-81C1-80180CE6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1809750" cy="16192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73A746-FE89-4694-90E8-63BB1DF5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51113-1E2D-424E-A796-2977C097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1485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API Backend</a:t>
            </a:r>
          </a:p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AB201-289B-4224-9FC6-D58A19B2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19450"/>
            <a:ext cx="1485900" cy="1085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Controllers e validacao HTTP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3FC30-D75A-462B-9C95-CE3312D9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90925"/>
            <a:ext cx="628650" cy="-60007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D808E5-FCB7-49BA-8434-339C3B0A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67750" y="29241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B0289E-5CA5-4445-A944-5196E2E4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590925"/>
            <a:ext cx="628650" cy="60007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5BF6E9-E7C7-4804-8F02-E0B3424E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67750" y="41243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6F2C51-2621-4295-AC3C-F2F44727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43150"/>
            <a:ext cx="20955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802B13-0A7D-41D8-BEC4-C56ACFCE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3431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9BAD0E-7469-428C-87CA-509CC13B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95550"/>
            <a:ext cx="1771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Metrics Service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632832-5247-4B70-8249-05E2F6A1F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81300"/>
            <a:ext cx="177165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Lead Time, Cycle Time e gargalos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9D0C83-AD02-41E8-A9AB-89342EE38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43350"/>
            <a:ext cx="20955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6BAD51-651F-4874-A138-0BCBFEE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433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7F3F47-E113-4B1D-B58E-C0B2E9E6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95750"/>
            <a:ext cx="17716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PostgreSQL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80FD80-4E5B-4CBE-B72B-3304B774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81500"/>
            <a:ext cx="1771650" cy="60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Cards, colunas e transicoes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7DA516-25D4-4A9A-8D11-4D595177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857750"/>
            <a:ext cx="4648200" cy="5143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5836D0-5AF0-4A72-9563-247B3A81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010150"/>
            <a:ext cx="40957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AF0"/>
                </a:solidFill>
              </a:defRPr>
            </a:pPr>
            <a:r>
              <a:rPr sz="1500" b="1">
                <a:solidFill>
                  <a:srgbClr val="FFFAF0"/>
                </a:solidFill>
                <a:latin typeface="Aptos"/>
                <a:ea typeface="Aptos"/>
                <a:cs typeface="Aptos"/>
              </a:rPr>
              <a:t>Controller / Service / Repository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A2C102-D0F8-4676-BCA8-ECE92378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505450"/>
            <a:ext cx="371475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6C"/>
                </a:solidFill>
              </a:defRPr>
            </a:pPr>
            <a:r>
              <a:rPr sz="105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Deploy planejado: GitHub Actions -&gt; Railway</a:t>
            </a:r>
          </a:p>
        </p:txBody>
      </p:sp>
    </p:spTree>
    <p:extLst>
      <p:ext uri="{BB962C8B-B14F-4D97-AF65-F5344CB8AC3E}">
        <p14:creationId xmlns:p14="http://schemas.microsoft.com/office/powerpoint/2010/main" val="8820024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F09477-C584-4662-BBB8-C79183EC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CACA5-FF58-4C58-8DC3-47F985E1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294F3-35BE-401B-92C1-6B240B35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Dados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FDE48-6776-461F-8E36-1B525A2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446BEC-B232-4D28-B2B9-099CDA09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14D5C-B471-423C-97E2-901E4D49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O historico de transicoes e o dado mais valioso do produto.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514E4-04D4-4B6D-BED0-910E85F9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Sem esse evento, o quadro volta a ser apenas uma lista visual de tarefas.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DB946-3B83-48C7-9949-93A876FA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571750" cy="1219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A943E8-5A1E-4075-A83C-CAA28A2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A376B-3C0E-4B17-99F3-FF942787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7500"/>
            <a:ext cx="2247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AEFB2-7A13-474E-AC6D-D7023CE4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22479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id, titulo, responsavel, prioridade, coluna_atual, criado_em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2705EC-D7BD-4C25-92AD-067C09CE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14700"/>
            <a:ext cx="857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D799A-6EC1-431B-8ADB-20BD2F4E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38650" y="32480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D667A-959F-4873-B2DB-6C91C1E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76500"/>
            <a:ext cx="2857500" cy="1676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 w="9525">
            <a:solidFill>
              <a:srgbClr val="E0A13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C202D-7130-4D43-8E8B-0F5EDF99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219075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0A13A"/>
                </a:solidFill>
              </a:defRPr>
            </a:pPr>
            <a:r>
              <a:rPr sz="1275" b="1">
                <a:solidFill>
                  <a:srgbClr val="E0A13A"/>
                </a:solidFill>
                <a:latin typeface="Aptos"/>
                <a:ea typeface="Aptos"/>
                <a:cs typeface="Aptos"/>
              </a:rPr>
              <a:t>card_transitions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BBE8EE-E39E-4E4F-B6A3-80A5AE42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048000"/>
            <a:ext cx="21907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FFAF0"/>
                </a:solidFill>
              </a:defRPr>
            </a:pPr>
            <a:r>
              <a:rPr sz="975" b="0">
                <a:solidFill>
                  <a:srgbClr val="FFFAF0"/>
                </a:solidFill>
                <a:latin typeface="Aptos"/>
                <a:ea typeface="Aptos"/>
                <a:cs typeface="Aptos"/>
              </a:rPr>
              <a:t>card_id, coluna_origem, coluna_destino, movido_em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C09DA6-F8F7-4870-BF6B-8D6CFBE4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00450"/>
            <a:ext cx="18097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0A13A"/>
                </a:solidFill>
              </a:defRPr>
            </a:pPr>
            <a:r>
              <a:rPr sz="1200" b="1">
                <a:solidFill>
                  <a:srgbClr val="E0A13A"/>
                </a:solidFill>
                <a:latin typeface="Aptos"/>
                <a:ea typeface="Aptos"/>
                <a:cs typeface="Aptos"/>
              </a:rPr>
              <a:t>fonte da verdade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F227B9-67C2-4132-A400-FE9DD85B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14700"/>
            <a:ext cx="857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6F5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B5248-93F5-41CA-8D15-18AC2FF1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534400" y="32480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A91104-BE33-4B71-8206-F241C9F8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05100"/>
            <a:ext cx="2571750" cy="1219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A639-0599-4419-BB2F-0E77E416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05100"/>
            <a:ext cx="762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AF99AA-1FA1-4E52-A73D-65AF5E86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247900" cy="247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1F"/>
                </a:solidFill>
              </a:defRPr>
            </a:pPr>
            <a:r>
              <a:rPr sz="12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1BD579-328C-42EB-AAC4-B0A9312D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143250"/>
            <a:ext cx="2247900" cy="6858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6C"/>
                </a:solidFill>
              </a:defRPr>
            </a:pPr>
            <a:r>
              <a:rPr sz="97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lead_time, cycle_time, throughput, permanencia_media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EB7780-18F6-4454-BACA-5D3DC2E5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81550"/>
            <a:ext cx="9810750" cy="4191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7F9B54-2DD4-42F6-9E55-82FA2D55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05375"/>
            <a:ext cx="93345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201F"/>
                </a:solidFill>
              </a:defRPr>
            </a:pPr>
            <a:r>
              <a:rPr sz="112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Lead Time = criado_em ate primeira transicao para Concluido | Cycle Time = entrada em Em Progresso ate Concluido</a:t>
            </a:r>
          </a:p>
        </p:txBody>
      </p:sp>
    </p:spTree>
    <p:extLst>
      <p:ext uri="{BB962C8B-B14F-4D97-AF65-F5344CB8AC3E}">
        <p14:creationId xmlns:p14="http://schemas.microsoft.com/office/powerpoint/2010/main" val="19964966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80B7A1-09BA-4A7B-B26E-154538DC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1F446-6CE9-4B53-9F96-BA9DA6BF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A3BBE-A2FA-4D9E-A02D-3C8E33DF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Gantt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233AD-6D9A-4E8A-8828-944ECF28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B23F2-EBDF-4E33-98F0-557CB8F3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09E73-CD8E-4FAB-A021-D078190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A execucao percorre escopo, arquitetura, MVP e entrega.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13C616-C8C4-4B02-ABE6-6BB01FC9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O cronograma concentra a prova funcional em Maio e a validacao final em Junho.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CA879-E483-4FA3-8F06-EF2472A8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1C5"/>
          </a:solidFill>
          <a:ln xmlns:a="http://schemas.openxmlformats.org/drawingml/2006/main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F491CF-E576-4F6E-B930-7094AB37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15240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6C"/>
                </a:solidFill>
              </a:defRPr>
            </a:pPr>
            <a:r>
              <a:rPr sz="12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Maio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4E47F-04DC-45B1-94A7-167206D3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33600"/>
            <a:ext cx="1524000" cy="190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06C"/>
                </a:solidFill>
              </a:defRPr>
            </a:pPr>
            <a:r>
              <a:rPr sz="12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Junho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76D74-0AB5-4160-86A7-F5438EDD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80975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9BC1BF-5610-48C6-A169-88C55380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15430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Planejamento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FBD860-C135-4DE0-A0B3-3B8AFFFDF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15430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</a:defRPr>
            </a:pPr>
            <a:r>
              <a:rPr sz="9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01/05 a 08/05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DC699-4EC7-401B-B440-94983B37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2667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44C9A"/>
                </a:solidFill>
              </a:defRPr>
            </a:pPr>
            <a:r>
              <a:rPr sz="1200" b="1">
                <a:solidFill>
                  <a:srgbClr val="344C9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C7C737-3E1C-4808-BDC9-4163B138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A18DC9-74B1-4DD7-9804-34461AAD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62250"/>
            <a:ext cx="228600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DDAB0-589B-4AD2-A21D-86A27AFD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14650"/>
            <a:ext cx="20193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UX + Arquitetura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8FA6A-E795-40BF-8E00-859A2F2C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19450"/>
            <a:ext cx="201930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</a:defRPr>
            </a:pPr>
            <a:r>
              <a:rPr sz="9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09/05 a 21/05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D5310E-A236-42D1-85D8-2F764ADC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400300"/>
            <a:ext cx="2667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F6F5F"/>
                </a:solidFill>
              </a:defRPr>
            </a:pPr>
            <a:r>
              <a:rPr sz="1200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0EF553-11F8-4C81-8099-2D38B72C1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67000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19E443-8833-4825-B92D-98501B4F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62250"/>
            <a:ext cx="295275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1F02BF-2EF0-4465-BF34-644E163A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14650"/>
            <a:ext cx="26860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Desenvolvimento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FCD68-7D77-4D73-863D-76F8192D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219450"/>
            <a:ext cx="26860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</a:defRPr>
            </a:pPr>
            <a:r>
              <a:rPr sz="9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22/05 a 07/06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EDEC2A-E7F8-48E7-B2AB-2789733E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00300"/>
            <a:ext cx="2667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0A13A"/>
                </a:solidFill>
              </a:defRPr>
            </a:pPr>
            <a:r>
              <a:rPr sz="1200" b="1">
                <a:solidFill>
                  <a:srgbClr val="E0A13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51110F-AE60-4D34-8262-4C415CAE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67000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40B1EE-4B11-4F58-ACAC-DA86D5A9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62250"/>
            <a:ext cx="219075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539F63-448F-4806-867C-D6882AB5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14650"/>
            <a:ext cx="19240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QA + Documentacao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DF2A6-0B1D-4F10-B728-EDAC6C40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19450"/>
            <a:ext cx="19240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</a:defRPr>
            </a:pPr>
            <a:r>
              <a:rPr sz="9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08/06 a 13/06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ECF561-BC24-4EDC-80B8-425D7E81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00300"/>
            <a:ext cx="2667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96045"/>
                </a:solidFill>
              </a:defRPr>
            </a:pPr>
            <a:r>
              <a:rPr sz="1200" b="1">
                <a:solidFill>
                  <a:srgbClr val="D9604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0F7592-7F63-4B57-A81B-D665D43C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492369-EB17-4A94-BCB6-3106E865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762250"/>
            <a:ext cx="1238250" cy="7810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6247D5-3E35-41F5-87C2-E8E632B3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2914650"/>
            <a:ext cx="97155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Apresentacao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FFD185-89D4-4C42-8EF3-8AB144C7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219450"/>
            <a:ext cx="971550" cy="171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</a:defRPr>
            </a:pPr>
            <a:r>
              <a:rPr sz="9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14/06 a 17/06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2BFB23-C4B2-4D49-9AE6-729B8832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400300"/>
            <a:ext cx="2667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3B36"/>
                </a:solidFill>
              </a:defRPr>
            </a:pPr>
            <a:r>
              <a:rPr sz="1200" b="1">
                <a:solidFill>
                  <a:srgbClr val="113B3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8DC4F3-2494-41F6-BEF3-D87E54EC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0"/>
            <a:ext cx="76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3B99B9-94FD-4504-85D2-5CFB1DF07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7524750" cy="2857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1F"/>
                </a:solidFill>
              </a:defRPr>
            </a:pPr>
            <a:r>
              <a:rPr sz="1575" b="1">
                <a:solidFill>
                  <a:srgbClr val="17201F"/>
                </a:solidFill>
                <a:latin typeface="Aptos"/>
                <a:ea typeface="Aptos"/>
                <a:cs typeface="Aptos"/>
              </a:rPr>
              <a:t>Marco final: entrega via Git/E-mail e demonstracao do MVP funcional.</a:t>
            </a:r>
          </a:p>
        </p:txBody>
      </p:sp>
    </p:spTree>
    <p:extLst>
      <p:ext uri="{BB962C8B-B14F-4D97-AF65-F5344CB8AC3E}">
        <p14:creationId xmlns:p14="http://schemas.microsoft.com/office/powerpoint/2010/main" val="9368434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5F2B03-7194-48CD-B3AF-9BCC82BC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A41CB-2D11-44CA-9713-A7E53582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3B36"/>
          </a:solidFill>
          <a:ln xmlns:a="http://schemas.openxmlformats.org/drawingml/2006/main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E7B44-5D29-430F-B683-2AC51DD2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F6F5F"/>
                </a:solidFill>
              </a:defRPr>
            </a:pPr>
            <a:r>
              <a:rPr sz="975" b="1">
                <a:solidFill>
                  <a:srgbClr val="0F6F5F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6A3D9-0A31-40D6-83AA-EE007523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191250"/>
            <a:ext cx="419100" cy="228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6706C"/>
                </a:solidFill>
              </a:defRPr>
            </a:pPr>
            <a:r>
              <a:rPr sz="900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AD114-F0B5-4642-BA62-9219FBD3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4953000" cy="2095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6C"/>
                </a:solidFill>
              </a:defRPr>
            </a:pPr>
            <a:r>
              <a:rPr sz="825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Trabalho 2o Bimestre - Gerencia e Arquitetura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D0EC3-BD3E-4830-89DF-DE5C3E5E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"/>
            <a:ext cx="7239000" cy="11239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7201F"/>
                </a:solidFill>
              </a:defRPr>
            </a:pPr>
            <a:r>
              <a:rPr sz="32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A entrega prova a proposta e deixa um caminho claro de evolucao.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1E45A8-BA22-4A61-852E-26A11F6C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6096000" cy="6286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6C"/>
                </a:solidFill>
              </a:defRPr>
            </a:pPr>
            <a:r>
              <a:rPr sz="1500" b="0">
                <a:solidFill>
                  <a:srgbClr val="66706C"/>
                </a:solidFill>
                <a:latin typeface="Aptos"/>
                <a:ea typeface="Aptos"/>
                <a:cs typeface="Aptos"/>
              </a:rPr>
              <a:t>O MVP mostra que a FlowMetrics pode reduzir ferramentas paralelas ao capturar metricas no proprio fluxo.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EA1741-8810-40D7-BDF8-312615B7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171450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4CF443-CCFA-4DB8-B099-619D8C88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0375"/>
            <a:ext cx="137160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6F5F"/>
                </a:solidFill>
              </a:defRPr>
            </a:pPr>
            <a:r>
              <a:rPr sz="2550" b="1">
                <a:solidFill>
                  <a:srgbClr val="0F6F5F"/>
                </a:solidFill>
                <a:latin typeface="Bahnschrift"/>
                <a:ea typeface="Bahnschrift"/>
                <a:cs typeface="Bahnschrift"/>
              </a:rPr>
              <a:t>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095B3D-4967-47E2-813E-C4083BA2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13716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funcional e demonstravel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295839-8496-4CBC-AB40-4D81F86C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57500"/>
            <a:ext cx="18097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C3F9DD-E8FF-4C76-B006-8DC7E0D1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00375"/>
            <a:ext cx="14668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4C9A"/>
                </a:solidFill>
              </a:defRPr>
            </a:pPr>
            <a:r>
              <a:rPr sz="2550" b="1">
                <a:solidFill>
                  <a:srgbClr val="344C9A"/>
                </a:solidFill>
                <a:latin typeface="Bahnschrift"/>
                <a:ea typeface="Bahnschrift"/>
                <a:cs typeface="Bahnschrift"/>
              </a:rPr>
              <a:t>C4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8243A8-86CE-4C46-9486-5D993623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48050"/>
            <a:ext cx="14668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arquitetura documentada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F4D703-3109-4598-B615-E436CEC9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57500"/>
            <a:ext cx="1619250" cy="990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66E4C-03B3-4217-88A0-4B5F4F39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00375"/>
            <a:ext cx="12763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0A13A"/>
                </a:solidFill>
              </a:defRPr>
            </a:pPr>
            <a:r>
              <a:rPr sz="2550" b="1">
                <a:solidFill>
                  <a:srgbClr val="E0A13A"/>
                </a:solidFill>
                <a:latin typeface="Bahnschrift"/>
                <a:ea typeface="Bahnschrift"/>
                <a:cs typeface="Bahnschrift"/>
              </a:rPr>
              <a:t>Gantt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8D628-9D17-4926-A338-4BECD91B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448050"/>
            <a:ext cx="127635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6C"/>
                </a:solidFill>
              </a:defRPr>
            </a:pPr>
            <a:r>
              <a:rPr sz="975" b="1">
                <a:solidFill>
                  <a:srgbClr val="66706C"/>
                </a:solidFill>
                <a:latin typeface="Aptos"/>
                <a:ea typeface="Aptos"/>
                <a:cs typeface="Aptos"/>
              </a:rPr>
              <a:t>execucao planejada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285D18-EDA3-408B-9226-1EED93D2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71750"/>
            <a:ext cx="4000500" cy="219075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D398E-8038-4038-B897-60704369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838450"/>
            <a:ext cx="2857500" cy="26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01F"/>
                </a:solidFill>
              </a:defRPr>
            </a:pPr>
            <a:r>
              <a:rPr sz="1725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Proximos passos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8331F-966F-4CD7-9150-47A010D2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90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6F5F"/>
          </a:solidFill>
          <a:ln xmlns:a="http://schemas.openxmlformats.org/drawingml/2006/main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07D0E4-F74F-4294-B9C4-8238F2F6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14700"/>
            <a:ext cx="3067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Conectar frontend Next.js ao backend FastAPI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95FDED-F751-4863-8513-A7ADC91D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48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AE691-C86E-4CEF-9589-C152B953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771900"/>
            <a:ext cx="3067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Persistir cards e transicoes no PostgreSQL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E8E90B-5CF8-4DA5-AD28-AFA3C358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05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724E5A-1B4F-4328-99CC-C750EEF2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229100"/>
            <a:ext cx="3067050" cy="4000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7201F"/>
                </a:solidFill>
              </a:defRPr>
            </a:pPr>
            <a:r>
              <a:rPr sz="1200" b="0">
                <a:solidFill>
                  <a:srgbClr val="17201F"/>
                </a:solidFill>
                <a:latin typeface="Aptos"/>
                <a:ea typeface="Aptos"/>
                <a:cs typeface="Aptos"/>
              </a:rPr>
              <a:t>Publicar no Railway com GitHub Actions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C11990-A446-4102-A9D8-D65AB206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72100"/>
            <a:ext cx="9429750" cy="323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201F"/>
                </a:solidFill>
              </a:defRPr>
            </a:pPr>
            <a:r>
              <a:rPr sz="1800" b="1">
                <a:solidFill>
                  <a:srgbClr val="17201F"/>
                </a:solidFill>
                <a:latin typeface="Bahnschrift"/>
                <a:ea typeface="Bahnschrift"/>
                <a:cs typeface="Bahnschrift"/>
              </a:rPr>
              <a:t>Conclusao: o diferencial nao e mover cards; e transformar movimento em inteligencia operacional.</a:t>
            </a:r>
          </a:p>
        </p:txBody>
      </p:sp>
    </p:spTree>
    <p:extLst>
      <p:ext uri="{BB962C8B-B14F-4D97-AF65-F5344CB8AC3E}">
        <p14:creationId xmlns:p14="http://schemas.microsoft.com/office/powerpoint/2010/main" val="5353763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2026-06-08T00:35:56.8410000Z</dcterms:created>
  <dcterms:modified xsi:type="dcterms:W3CDTF">2026-06-08T00:35:56.8420000Z</dcterms:modified>
</coreProperties>
</file>